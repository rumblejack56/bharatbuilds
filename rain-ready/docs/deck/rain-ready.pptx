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Drains as they are now</c:v>
                </c:pt>
              </c:strCache>
            </c:strRef>
          </c:tx>
          <c:spPr>
            <a:solidFill>
              <a:srgbClr val="B8BEC6"/>
            </a:solidFill>
            <a:effectLst/>
          </c:spPr>
          <c:invertIfNegative val="0"/>
          <c:dLbls>
            <c:numFmt formatCode="0&quot; min&quot;" sourceLinked="0"/>
            <c:txPr>
              <a:bodyPr/>
              <a:lstStyle/>
              <a:p>
                <a:pPr>
                  <a:defRPr b="0" i="0" strike="noStrike" sz="1200" u="none">
                    <a:solidFill>
                      <a:srgbClr val="16181D"/>
                    </a:solidFill>
                    <a:latin typeface="Arial"/>
                  </a:defRPr>
                </a:pPr>
              </a:p>
            </c:txPr>
            <c:showLegendKey val="0"/>
            <c:showVal val="1"/>
            <c:showCatName val="0"/>
            <c:showSerName val="0"/>
            <c:showPercent val="0"/>
            <c:showBubbleSize val="0"/>
            <c:showLeaderLines val="0"/>
          </c:dLbls>
          <c:cat>
            <c:multiLvlStrRef>
              <c:f>Sheet1!$A$2:$A$5</c:f>
              <c:multiLvlStrCache>
                <c:ptCount val="4"/>
                <c:lvl>
                  <c:pt idx="0">
                    <c:v>Library lane</c:v>
                  </c:pt>
                  <c:pt idx="1">
                    <c:v>Lane 2</c:v>
                  </c:pt>
                  <c:pt idx="2">
                    <c:v>Karol Bagh lane</c:v>
                  </c:pt>
                  <c:pt idx="3">
                    <c:v>Rajinder Nagar saucer</c:v>
                  </c:pt>
                </c:lvl>
              </c:multiLvlStrCache>
            </c:multiLvlStrRef>
          </c:cat>
          <c:val>
            <c:numRef>
              <c:f>Sheet1!$B$2:$B$5</c:f>
              <c:numCache>
                <c:formatCode>General</c:formatCode>
                <c:ptCount val="4"/>
                <c:pt idx="0">
                  <c:v>23</c:v>
                </c:pt>
                <c:pt idx="1">
                  <c:v>34</c:v>
                </c:pt>
                <c:pt idx="2">
                  <c:v>44</c:v>
                </c:pt>
                <c:pt idx="3">
                  <c:v>45</c:v>
                </c:pt>
              </c:numCache>
            </c:numRef>
          </c:val>
        </c:ser>
        <c:ser>
          <c:idx val="1"/>
          <c:order val="1"/>
          <c:tx>
            <c:strRef>
              <c:f>Sheet1!$C$1</c:f>
              <c:strCache>
                <c:ptCount val="1"/>
                <c:pt idx="0">
                  <c:v>All drains cleaned</c:v>
                </c:pt>
              </c:strCache>
            </c:strRef>
          </c:tx>
          <c:spPr>
            <a:solidFill>
              <a:srgbClr val="D2412B"/>
            </a:solidFill>
            <a:effectLst/>
          </c:spPr>
          <c:invertIfNegative val="0"/>
          <c:dLbls>
            <c:numFmt formatCode="0&quot; min&quot;" sourceLinked="0"/>
            <c:txPr>
              <a:bodyPr/>
              <a:lstStyle/>
              <a:p>
                <a:pPr>
                  <a:defRPr b="0" i="0" strike="noStrike" sz="1200" u="none">
                    <a:solidFill>
                      <a:srgbClr val="16181D"/>
                    </a:solidFill>
                    <a:latin typeface="Arial"/>
                  </a:defRPr>
                </a:pPr>
              </a:p>
            </c:txPr>
            <c:showLegendKey val="0"/>
            <c:showVal val="1"/>
            <c:showCatName val="0"/>
            <c:showSerName val="0"/>
            <c:showPercent val="0"/>
            <c:showBubbleSize val="0"/>
            <c:showLeaderLines val="0"/>
          </c:dLbls>
          <c:cat>
            <c:multiLvlStrRef>
              <c:f>Sheet1!$A$2:$A$5</c:f>
              <c:multiLvlStrCache>
                <c:ptCount val="4"/>
                <c:lvl>
                  <c:pt idx="0">
                    <c:v>Library lane</c:v>
                  </c:pt>
                  <c:pt idx="1">
                    <c:v>Lane 2</c:v>
                  </c:pt>
                  <c:pt idx="2">
                    <c:v>Karol Bagh lane</c:v>
                  </c:pt>
                  <c:pt idx="3">
                    <c:v>Rajinder Nagar saucer</c:v>
                  </c:pt>
                </c:lvl>
              </c:multiLvlStrCache>
            </c:multiLvlStrRef>
          </c:cat>
          <c:val>
            <c:numRef>
              <c:f>Sheet1!$C$2:$C$5</c:f>
              <c:numCache>
                <c:formatCode>General</c:formatCode>
                <c:ptCount val="4"/>
                <c:pt idx="0">
                  <c:v>95</c:v>
                </c:pt>
                <c:pt idx="1">
                  <c:v>200</c:v>
                </c:pt>
                <c:pt idx="2">
                  <c:v>158</c:v>
                </c:pt>
                <c:pt idx="3">
                  <c:v>255</c:v>
                </c:pt>
              </c:numCache>
            </c:numRef>
          </c:val>
        </c:ser>
        <c:dLbls>
          <c:numFmt formatCode="0&quot; min&quot;" sourceLinked="0"/>
          <c:txPr>
            <a:bodyPr/>
            <a:lstStyle/>
            <a:p>
              <a:pPr>
                <a:defRPr b="0" i="0" strike="noStrike" sz="1200" u="none">
                  <a:solidFill>
                    <a:srgbClr val="16181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36E"/>
                </a:solidFill>
                <a:latin typeface="Arial"/>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6181D"/>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One line: the water is known, the owner is not. This is a shared action list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0:10-0:50. All problems on one slide, in causal order. 3: three aspirants drowned in a flooded basement (PTI, 27 Jul 2024). Also reported: electrocution in standing water, Aug 2024. 21%: CPCB reply to NGT quoting Times of India, 25 Apr 2025 - say 'as reported'. 7+: NGT filing lists PWD, I&amp;FC, MCD, NDMC, DDA, DSIIDC, Cantonment Board. 137%: 2014 CGWB/state study; SOURCE TODO replace with latest CGWB. No costed Delhi loss figure was found; do not state a rupee loss. 71% of NCR residents reporting financial loss is a 2024 survey (Business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0:50-1:10. Solution in one breath: list, owner, proof, order. TARGETS ARE PROPOSED by the team, not measured. Confirm the two numbers with the team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1:10-1:30. Say what 'social engineering' means: no tricks, no nudging individuals. We change the conditions: who is visible, what is counted, what is checked. We do not claim floods prevented or lives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1:30-1:55, or replace with the live demo. Demo storyboard: report with photo, official accepts or bounces, second resident confirms. Show only screens that run (SCOPE 7.9). Camera stamping is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1:55-2:20. 20 API endpoints, 76 tests, CI on every push. Controllers, ports, adapters (CLAUDE.md architecture rule). If AI fails, the resident's choice is used. Status: AWS deployment is scripted (docs/DEPLOY.md); say whether the first live run has happened before showing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2:20-2:40. Honest scaling answer: one small box is enough for a ward pilot; the load path is named, not built. Update the caption once the live run and any load test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2:40-3:00 if kept. Pipeline is docs/DATA.md 'Real-data pipeline (B7)'; sources and test results are docs/DATA_SOURCES.md. Exact-name join matched only 24 of 117 road names to PWD, so each owner row names its PWD asset code by hand and the build fails on an unknown code. Candidate seed passes make seedcheck but is not yet swapped into seed.json: tests and web fixtures still use placeholder ids. Do not claim real ward data is live until that swap is done. Licences: OSM is ODbL; check PWD API terms before committing raw road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minutes from PITCH.md section 5 (seed, computed 10 Oct 2026). Right: hours of fill time gained by cleaning that one drain, capped at 6 h. Insight 1: five of eight drains matter and one has no owner. Insight 2 (real-data run, DATA_SOURCES section 9): Copernicus DEM put only 2 of 6 documented waterlogging points below their surroundings, because it models roofs, flyovers and metro structures; OSM has no drain network here. So low points must come from the Flood Control Order lists and from resident reports, which is what the loop collects. Also say: with real parameters unmeasured, four pockets tie at 0.407 h, so rank among them is arbitrary until confirmed cleans and reports feed it. Replace chart and table with real-ward numbers after the seed swap. Rename the 'all silted' preset before any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(full pitch). Role design: SCOPE section 2. Login is a labelled demo persona picker, not real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PROPOSED numbers, not agreed with any agency or ward. Confirm or change before presenting. Seed has four agencies: MCD, PWD, I&amp;FC, DJB. Metrics come from GET /api/accountability.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rtlCol="0"/>
          <a:lstStyle>
            <a:lvl1pPr algn="l" indent="0" marL="0">
              <a:buNone/>
              <a:defRPr lang="en-US" sz="2800" b="1" dirty="0">
                <a:solidFill>
                  <a:srgbClr val="16181D"/>
                </a:solidFill>
              </a:defRPr>
            </a:lvl1pPr>
          </a:lstStyle>
          <a:p>
            <a:pPr algn="l" indent="0" marL="0">
              <a:buNone/>
            </a:pPr>
            <a:endParaRPr lang="en-US" sz="2800" dirty="0"/>
          </a:p>
        </p:txBody>
      </p:sp>
      <p:sp>
        <p:nvSpPr>
          <p:cNvPr id="3" name="Text 0"/>
          <p:cNvSpPr txBox="1"/>
          <p:nvPr/>
        </p:nvSpPr>
        <p:spPr>
          <a:xfrm>
            <a:off x="640080" y="6400800"/>
            <a:ext cx="7315200" cy="228600"/>
          </a:xfrm>
          <a:prstGeom prst="rect">
            <a:avLst/>
          </a:prstGeom>
          <a:noFill/>
          <a:ln/>
        </p:spPr>
        <p:txBody>
          <a:bodyPr wrap="square" lIns="0" tIns="0" rIns="0" bIns="0" rtlCol="0" anchor="ctr"/>
          <a:lstStyle/>
          <a:p>
            <a:pPr indent="0" marL="0">
              <a:buNone/>
            </a:pPr>
            <a:r>
              <a:rPr lang="en-US" sz="1000" dirty="0">
                <a:solidFill>
                  <a:srgbClr val="5D636E"/>
                </a:solidFill>
              </a:rPr>
              <a:t>Rain-Ready</a:t>
            </a:r>
            <a:endParaRPr lang="en-US" sz="10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6181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766560" cy="2651760"/>
          </a:xfrm>
          <a:prstGeom prst="rect">
            <a:avLst/>
          </a:prstGeom>
          <a:noFill/>
          <a:ln/>
        </p:spPr>
        <p:txBody>
          <a:bodyPr wrap="square" rtlCol="0"/>
          <a:lstStyle>
            <a:lvl1pPr algn="l" indent="0" marL="0">
              <a:buNone/>
              <a:defRPr lang="en-US" sz="4600" b="1" dirty="0">
                <a:solidFill>
                  <a:srgbClr val="FFFFFF"/>
                </a:solidFill>
              </a:defRPr>
            </a:lvl1pPr>
          </a:lstStyle>
          <a:p>
            <a:pPr algn="l" indent="0" marL="0">
              <a:buNone/>
            </a:pPr>
            <a:endParaRPr lang="en-US" sz="4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6181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94560"/>
            <a:ext cx="6583680" cy="201168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txBox="1"/>
          <p:nvPr/>
        </p:nvSpPr>
        <p:spPr>
          <a:xfrm>
            <a:off x="640080" y="6400800"/>
            <a:ext cx="7315200" cy="228600"/>
          </a:xfrm>
          <a:prstGeom prst="rect">
            <a:avLst/>
          </a:prstGeom>
          <a:noFill/>
          <a:ln/>
        </p:spPr>
        <p:txBody>
          <a:bodyPr wrap="square" lIns="0" tIns="0" rIns="0" bIns="0" rtlCol="0" anchor="ctr"/>
          <a:lstStyle/>
          <a:p>
            <a:pPr indent="0" marL="0">
              <a:buNone/>
            </a:pPr>
            <a:r>
              <a:rPr lang="en-US" sz="1000" dirty="0">
                <a:solidFill>
                  <a:srgbClr val="A2A8B3"/>
                </a:solidFill>
              </a:rPr>
              <a:t>Rain-Ready</a:t>
            </a:r>
            <a:endParaRPr lang="en-US" sz="10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2A8B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766560" cy="2651760"/>
          </a:xfrm>
          <a:prstGeom prst="rect">
            <a:avLst/>
          </a:prstGeom>
          <a:noFill/>
          <a:ln/>
        </p:spPr>
        <p:txBody>
          <a:bodyPr wrap="square" lIns="0" tIns="0" rIns="0" bIns="0" rtlCol="0" anchor="b"/>
          <a:lstStyle/>
          <a:p>
            <a:pPr algn="l" indent="0" marL="0">
              <a:buNone/>
            </a:pPr>
            <a:r>
              <a:rPr lang="en-US" sz="4600" b="1" dirty="0">
                <a:solidFill>
                  <a:srgbClr val="FFFFFF"/>
                </a:solidFill>
              </a:rPr>
              <a:t>Rain-Ready</a:t>
            </a:r>
            <a:endParaRPr lang="en-US" sz="4600" dirty="0"/>
          </a:p>
        </p:txBody>
      </p:sp>
      <p:sp>
        <p:nvSpPr>
          <p:cNvPr id="3" name="Text 1"/>
          <p:cNvSpPr txBox="1"/>
          <p:nvPr/>
        </p:nvSpPr>
        <p:spPr>
          <a:xfrm>
            <a:off x="640080" y="4251960"/>
            <a:ext cx="6766560" cy="822960"/>
          </a:xfrm>
          <a:prstGeom prst="rect">
            <a:avLst/>
          </a:prstGeom>
          <a:noFill/>
          <a:ln/>
        </p:spPr>
        <p:txBody>
          <a:bodyPr wrap="square" lIns="0" tIns="0" rIns="0" bIns="0" rtlCol="0" anchor="t"/>
          <a:lstStyle/>
          <a:p>
            <a:pPr algn="l" indent="0" marL="0">
              <a:lnSpc>
                <a:spcPct val="115000"/>
              </a:lnSpc>
              <a:buNone/>
            </a:pPr>
            <a:r>
              <a:rPr lang="en-US" sz="2000" dirty="0">
                <a:solidFill>
                  <a:srgbClr val="A2A8B3"/>
                </a:solidFill>
              </a:rPr>
              <a:t>What to clean, who owns it, who did it, who checked, did it help</a:t>
            </a:r>
            <a:endParaRPr lang="en-US" sz="2000" dirty="0"/>
          </a:p>
        </p:txBody>
      </p:sp>
      <p:sp>
        <p:nvSpPr>
          <p:cNvPr id="4" name="Shape 2"/>
          <p:cNvSpPr/>
          <p:nvPr/>
        </p:nvSpPr>
        <p:spPr>
          <a:xfrm>
            <a:off x="640080" y="5577840"/>
            <a:ext cx="10911535" cy="0"/>
          </a:xfrm>
          <a:prstGeom prst="line">
            <a:avLst/>
          </a:prstGeom>
          <a:noFill/>
          <a:ln w="9525">
            <a:solidFill>
              <a:srgbClr val="30343D"/>
            </a:solidFill>
            <a:prstDash val="solid"/>
          </a:ln>
        </p:spPr>
      </p:sp>
      <p:sp>
        <p:nvSpPr>
          <p:cNvPr id="5" name="Text 3"/>
          <p:cNvSpPr txBox="1"/>
          <p:nvPr/>
        </p:nvSpPr>
        <p:spPr>
          <a:xfrm>
            <a:off x="640080" y="5742432"/>
            <a:ext cx="2453564" cy="228600"/>
          </a:xfrm>
          <a:prstGeom prst="rect">
            <a:avLst/>
          </a:prstGeom>
          <a:noFill/>
          <a:ln/>
        </p:spPr>
        <p:txBody>
          <a:bodyPr wrap="square" lIns="0" tIns="0" rIns="0" bIns="0" rtlCol="0" anchor="t"/>
          <a:lstStyle/>
          <a:p>
            <a:pPr algn="l" indent="0" marL="0">
              <a:lnSpc>
                <a:spcPct val="110000"/>
              </a:lnSpc>
              <a:buNone/>
            </a:pPr>
            <a:r>
              <a:rPr lang="en-US" sz="1100" dirty="0">
                <a:solidFill>
                  <a:srgbClr val="A2A8B3"/>
                </a:solidFill>
              </a:rPr>
              <a:t>Event</a:t>
            </a:r>
            <a:endParaRPr lang="en-US" sz="1100" dirty="0"/>
          </a:p>
        </p:txBody>
      </p:sp>
      <p:sp>
        <p:nvSpPr>
          <p:cNvPr id="6" name="Text 4"/>
          <p:cNvSpPr txBox="1"/>
          <p:nvPr/>
        </p:nvSpPr>
        <p:spPr>
          <a:xfrm>
            <a:off x="640080" y="5989320"/>
            <a:ext cx="2453564" cy="36576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rPr>
              <a:t>Environmental Hacks</a:t>
            </a:r>
            <a:endParaRPr lang="en-US" sz="1500" dirty="0"/>
          </a:p>
        </p:txBody>
      </p:sp>
      <p:sp>
        <p:nvSpPr>
          <p:cNvPr id="7" name="Text 5"/>
          <p:cNvSpPr txBox="1"/>
          <p:nvPr/>
        </p:nvSpPr>
        <p:spPr>
          <a:xfrm>
            <a:off x="3367964" y="5742432"/>
            <a:ext cx="2453564" cy="228600"/>
          </a:xfrm>
          <a:prstGeom prst="rect">
            <a:avLst/>
          </a:prstGeom>
          <a:noFill/>
          <a:ln/>
        </p:spPr>
        <p:txBody>
          <a:bodyPr wrap="square" lIns="0" tIns="0" rIns="0" bIns="0" rtlCol="0" anchor="t"/>
          <a:lstStyle/>
          <a:p>
            <a:pPr algn="l" indent="0" marL="0">
              <a:lnSpc>
                <a:spcPct val="110000"/>
              </a:lnSpc>
              <a:buNone/>
            </a:pPr>
            <a:r>
              <a:rPr lang="en-US" sz="1100" dirty="0">
                <a:solidFill>
                  <a:srgbClr val="A2A8B3"/>
                </a:solidFill>
              </a:rPr>
              <a:t>Track</a:t>
            </a:r>
            <a:endParaRPr lang="en-US" sz="1100" dirty="0"/>
          </a:p>
        </p:txBody>
      </p:sp>
      <p:sp>
        <p:nvSpPr>
          <p:cNvPr id="8" name="Text 6"/>
          <p:cNvSpPr txBox="1"/>
          <p:nvPr/>
        </p:nvSpPr>
        <p:spPr>
          <a:xfrm>
            <a:off x="3367964" y="5989320"/>
            <a:ext cx="2453564" cy="36576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rPr>
              <a:t>Heat and Water</a:t>
            </a:r>
            <a:endParaRPr lang="en-US" sz="1500" dirty="0"/>
          </a:p>
        </p:txBody>
      </p:sp>
      <p:sp>
        <p:nvSpPr>
          <p:cNvPr id="9" name="Text 7"/>
          <p:cNvSpPr txBox="1"/>
          <p:nvPr/>
        </p:nvSpPr>
        <p:spPr>
          <a:xfrm>
            <a:off x="6095848" y="5742432"/>
            <a:ext cx="2453564" cy="228600"/>
          </a:xfrm>
          <a:prstGeom prst="rect">
            <a:avLst/>
          </a:prstGeom>
          <a:noFill/>
          <a:ln/>
        </p:spPr>
        <p:txBody>
          <a:bodyPr wrap="square" lIns="0" tIns="0" rIns="0" bIns="0" rtlCol="0" anchor="t"/>
          <a:lstStyle/>
          <a:p>
            <a:pPr algn="l" indent="0" marL="0">
              <a:lnSpc>
                <a:spcPct val="110000"/>
              </a:lnSpc>
              <a:buNone/>
            </a:pPr>
            <a:r>
              <a:rPr lang="en-US" sz="1100" dirty="0">
                <a:solidFill>
                  <a:srgbClr val="A2A8B3"/>
                </a:solidFill>
              </a:rPr>
              <a:t>Pilot ward</a:t>
            </a:r>
            <a:endParaRPr lang="en-US" sz="1100" dirty="0"/>
          </a:p>
        </p:txBody>
      </p:sp>
      <p:sp>
        <p:nvSpPr>
          <p:cNvPr id="10" name="Text 8"/>
          <p:cNvSpPr txBox="1"/>
          <p:nvPr/>
        </p:nvSpPr>
        <p:spPr>
          <a:xfrm>
            <a:off x="6095848" y="5989320"/>
            <a:ext cx="2453564" cy="36576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rPr>
              <a:t>Old Rajinder Nagar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Waterlogging harms people, and every link in the chain behind it lacks an owner</a:t>
            </a:r>
            <a:endParaRPr lang="en-US" sz="2800" dirty="0"/>
          </a:p>
        </p:txBody>
      </p:sp>
      <p:sp>
        <p:nvSpPr>
          <p:cNvPr id="3" name="Shape 1"/>
          <p:cNvSpPr/>
          <p:nvPr/>
        </p:nvSpPr>
        <p:spPr>
          <a:xfrm>
            <a:off x="640080" y="1600200"/>
            <a:ext cx="2522144" cy="0"/>
          </a:xfrm>
          <a:prstGeom prst="line">
            <a:avLst/>
          </a:prstGeom>
          <a:noFill/>
          <a:ln w="9525">
            <a:solidFill>
              <a:srgbClr val="B8BEC6"/>
            </a:solidFill>
            <a:prstDash val="solid"/>
          </a:ln>
        </p:spPr>
      </p:sp>
      <p:sp>
        <p:nvSpPr>
          <p:cNvPr id="4" name="Text 2"/>
          <p:cNvSpPr txBox="1"/>
          <p:nvPr/>
        </p:nvSpPr>
        <p:spPr>
          <a:xfrm>
            <a:off x="640080" y="1737360"/>
            <a:ext cx="2522144" cy="27432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Harm</a:t>
            </a:r>
            <a:endParaRPr lang="en-US" sz="1200" dirty="0"/>
          </a:p>
        </p:txBody>
      </p:sp>
      <p:sp>
        <p:nvSpPr>
          <p:cNvPr id="5" name="Text 3"/>
          <p:cNvSpPr txBox="1"/>
          <p:nvPr/>
        </p:nvSpPr>
        <p:spPr>
          <a:xfrm>
            <a:off x="640080" y="2103120"/>
            <a:ext cx="2522144" cy="713232"/>
          </a:xfrm>
          <a:prstGeom prst="rect">
            <a:avLst/>
          </a:prstGeom>
          <a:noFill/>
          <a:ln/>
        </p:spPr>
        <p:txBody>
          <a:bodyPr wrap="square" lIns="0" tIns="0" rIns="0" bIns="0" rtlCol="0" anchor="t"/>
          <a:lstStyle/>
          <a:p>
            <a:pPr algn="l" indent="0" marL="0">
              <a:lnSpc>
                <a:spcPct val="100000"/>
              </a:lnSpc>
              <a:buNone/>
            </a:pPr>
            <a:r>
              <a:rPr lang="en-US" sz="4400" b="1" dirty="0">
                <a:solidFill>
                  <a:srgbClr val="D2412B"/>
                </a:solidFill>
              </a:rPr>
              <a:t>3</a:t>
            </a:r>
            <a:endParaRPr lang="en-US" sz="4400" dirty="0"/>
          </a:p>
        </p:txBody>
      </p:sp>
      <p:sp>
        <p:nvSpPr>
          <p:cNvPr id="6" name="Text 4"/>
          <p:cNvSpPr txBox="1"/>
          <p:nvPr/>
        </p:nvSpPr>
        <p:spPr>
          <a:xfrm>
            <a:off x="640080" y="2779776"/>
            <a:ext cx="2522144" cy="274320"/>
          </a:xfrm>
          <a:prstGeom prst="rect">
            <a:avLst/>
          </a:prstGeom>
          <a:noFill/>
          <a:ln/>
        </p:spPr>
        <p:txBody>
          <a:bodyPr wrap="square" lIns="0" tIns="0" rIns="0" bIns="0" rtlCol="0" anchor="t"/>
          <a:lstStyle/>
          <a:p>
            <a:pPr algn="l" indent="0" marL="0">
              <a:lnSpc>
                <a:spcPct val="110000"/>
              </a:lnSpc>
              <a:buNone/>
            </a:pPr>
            <a:r>
              <a:rPr lang="en-US" sz="1400" b="1" dirty="0">
                <a:solidFill>
                  <a:srgbClr val="16181D"/>
                </a:solidFill>
              </a:rPr>
              <a:t>aspirants drowned</a:t>
            </a:r>
            <a:endParaRPr lang="en-US" sz="1400" dirty="0"/>
          </a:p>
        </p:txBody>
      </p:sp>
      <p:sp>
        <p:nvSpPr>
          <p:cNvPr id="7" name="Text 5"/>
          <p:cNvSpPr txBox="1"/>
          <p:nvPr/>
        </p:nvSpPr>
        <p:spPr>
          <a:xfrm>
            <a:off x="640080" y="3072384"/>
            <a:ext cx="2522144" cy="36576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One basement, 27 July 2024</a:t>
            </a:r>
            <a:endParaRPr lang="en-US" sz="1200" dirty="0"/>
          </a:p>
        </p:txBody>
      </p:sp>
      <p:sp>
        <p:nvSpPr>
          <p:cNvPr id="8" name="Text 6"/>
          <p:cNvSpPr txBox="1"/>
          <p:nvPr/>
        </p:nvSpPr>
        <p:spPr>
          <a:xfrm>
            <a:off x="640080" y="3703320"/>
            <a:ext cx="2522144" cy="100584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Drowning, electrocution in standing water, lost hours and stock</a:t>
            </a:r>
            <a:endParaRPr lang="en-US" sz="1500" dirty="0"/>
          </a:p>
        </p:txBody>
      </p:sp>
      <p:sp>
        <p:nvSpPr>
          <p:cNvPr id="9" name="Shape 7"/>
          <p:cNvSpPr/>
          <p:nvPr/>
        </p:nvSpPr>
        <p:spPr>
          <a:xfrm>
            <a:off x="3189656" y="1874520"/>
            <a:ext cx="155448" cy="0"/>
          </a:xfrm>
          <a:prstGeom prst="line">
            <a:avLst/>
          </a:prstGeom>
          <a:noFill/>
          <a:ln w="15875">
            <a:solidFill>
              <a:srgbClr val="5D636E"/>
            </a:solidFill>
            <a:prstDash val="solid"/>
            <a:tailEnd type="triangle"/>
          </a:ln>
        </p:spPr>
      </p:sp>
      <p:sp>
        <p:nvSpPr>
          <p:cNvPr id="10" name="Shape 8"/>
          <p:cNvSpPr/>
          <p:nvPr/>
        </p:nvSpPr>
        <p:spPr>
          <a:xfrm>
            <a:off x="3436544" y="1600200"/>
            <a:ext cx="2522144" cy="0"/>
          </a:xfrm>
          <a:prstGeom prst="line">
            <a:avLst/>
          </a:prstGeom>
          <a:noFill/>
          <a:ln w="9525">
            <a:solidFill>
              <a:srgbClr val="B8BEC6"/>
            </a:solidFill>
            <a:prstDash val="solid"/>
          </a:ln>
        </p:spPr>
      </p:sp>
      <p:sp>
        <p:nvSpPr>
          <p:cNvPr id="11" name="Text 9"/>
          <p:cNvSpPr txBox="1"/>
          <p:nvPr/>
        </p:nvSpPr>
        <p:spPr>
          <a:xfrm>
            <a:off x="3436544" y="1737360"/>
            <a:ext cx="2522144" cy="27432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Drains</a:t>
            </a:r>
            <a:endParaRPr lang="en-US" sz="1200" dirty="0"/>
          </a:p>
        </p:txBody>
      </p:sp>
      <p:sp>
        <p:nvSpPr>
          <p:cNvPr id="12" name="Text 10"/>
          <p:cNvSpPr txBox="1"/>
          <p:nvPr/>
        </p:nvSpPr>
        <p:spPr>
          <a:xfrm>
            <a:off x="3436544" y="2103120"/>
            <a:ext cx="2522144" cy="713232"/>
          </a:xfrm>
          <a:prstGeom prst="rect">
            <a:avLst/>
          </a:prstGeom>
          <a:noFill/>
          <a:ln/>
        </p:spPr>
        <p:txBody>
          <a:bodyPr wrap="square" lIns="0" tIns="0" rIns="0" bIns="0" rtlCol="0" anchor="t"/>
          <a:lstStyle/>
          <a:p>
            <a:pPr algn="l" indent="0" marL="0">
              <a:lnSpc>
                <a:spcPct val="100000"/>
              </a:lnSpc>
              <a:buNone/>
            </a:pPr>
            <a:r>
              <a:rPr lang="en-US" sz="4400" b="1" dirty="0">
                <a:solidFill>
                  <a:srgbClr val="16181D"/>
                </a:solidFill>
              </a:rPr>
              <a:t>21%</a:t>
            </a:r>
            <a:endParaRPr lang="en-US" sz="4400" dirty="0"/>
          </a:p>
        </p:txBody>
      </p:sp>
      <p:sp>
        <p:nvSpPr>
          <p:cNvPr id="13" name="Text 11"/>
          <p:cNvSpPr txBox="1"/>
          <p:nvPr/>
        </p:nvSpPr>
        <p:spPr>
          <a:xfrm>
            <a:off x="3436544" y="2779776"/>
            <a:ext cx="2522144" cy="274320"/>
          </a:xfrm>
          <a:prstGeom prst="rect">
            <a:avLst/>
          </a:prstGeom>
          <a:noFill/>
          <a:ln/>
        </p:spPr>
        <p:txBody>
          <a:bodyPr wrap="square" lIns="0" tIns="0" rIns="0" bIns="0" rtlCol="0" anchor="t"/>
          <a:lstStyle/>
          <a:p>
            <a:pPr algn="l" indent="0" marL="0">
              <a:lnSpc>
                <a:spcPct val="110000"/>
              </a:lnSpc>
              <a:buNone/>
            </a:pPr>
            <a:r>
              <a:rPr lang="en-US" sz="1400" b="1" dirty="0">
                <a:solidFill>
                  <a:srgbClr val="16181D"/>
                </a:solidFill>
              </a:rPr>
              <a:t>of desilting target met</a:t>
            </a:r>
            <a:endParaRPr lang="en-US" sz="1400" dirty="0"/>
          </a:p>
        </p:txBody>
      </p:sp>
      <p:sp>
        <p:nvSpPr>
          <p:cNvPr id="14" name="Text 12"/>
          <p:cNvSpPr txBox="1"/>
          <p:nvPr/>
        </p:nvSpPr>
        <p:spPr>
          <a:xfrm>
            <a:off x="3436544" y="3072384"/>
            <a:ext cx="2522144" cy="36576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MCD, by 25 April 2025</a:t>
            </a:r>
            <a:endParaRPr lang="en-US" sz="1200" dirty="0"/>
          </a:p>
        </p:txBody>
      </p:sp>
      <p:sp>
        <p:nvSpPr>
          <p:cNvPr id="15" name="Text 13"/>
          <p:cNvSpPr txBox="1"/>
          <p:nvPr/>
        </p:nvSpPr>
        <p:spPr>
          <a:xfrm>
            <a:off x="3436544" y="3703320"/>
            <a:ext cx="2522144" cy="100584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Silted drains cannot carry the flow, and cleaning trails its target</a:t>
            </a:r>
            <a:endParaRPr lang="en-US" sz="1500" dirty="0"/>
          </a:p>
        </p:txBody>
      </p:sp>
      <p:sp>
        <p:nvSpPr>
          <p:cNvPr id="16" name="Shape 14"/>
          <p:cNvSpPr/>
          <p:nvPr/>
        </p:nvSpPr>
        <p:spPr>
          <a:xfrm>
            <a:off x="5986120" y="1874520"/>
            <a:ext cx="155448" cy="0"/>
          </a:xfrm>
          <a:prstGeom prst="line">
            <a:avLst/>
          </a:prstGeom>
          <a:noFill/>
          <a:ln w="15875">
            <a:solidFill>
              <a:srgbClr val="5D636E"/>
            </a:solidFill>
            <a:prstDash val="solid"/>
            <a:tailEnd type="triangle"/>
          </a:ln>
        </p:spPr>
      </p:sp>
      <p:sp>
        <p:nvSpPr>
          <p:cNvPr id="17" name="Shape 15"/>
          <p:cNvSpPr/>
          <p:nvPr/>
        </p:nvSpPr>
        <p:spPr>
          <a:xfrm>
            <a:off x="6233008" y="1600200"/>
            <a:ext cx="2522144" cy="0"/>
          </a:xfrm>
          <a:prstGeom prst="line">
            <a:avLst/>
          </a:prstGeom>
          <a:noFill/>
          <a:ln w="9525">
            <a:solidFill>
              <a:srgbClr val="B8BEC6"/>
            </a:solidFill>
            <a:prstDash val="solid"/>
          </a:ln>
        </p:spPr>
      </p:sp>
      <p:sp>
        <p:nvSpPr>
          <p:cNvPr id="18" name="Text 16"/>
          <p:cNvSpPr txBox="1"/>
          <p:nvPr/>
        </p:nvSpPr>
        <p:spPr>
          <a:xfrm>
            <a:off x="6233008" y="1737360"/>
            <a:ext cx="2522144" cy="27432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Owners</a:t>
            </a:r>
            <a:endParaRPr lang="en-US" sz="1200" dirty="0"/>
          </a:p>
        </p:txBody>
      </p:sp>
      <p:sp>
        <p:nvSpPr>
          <p:cNvPr id="19" name="Text 17"/>
          <p:cNvSpPr txBox="1"/>
          <p:nvPr/>
        </p:nvSpPr>
        <p:spPr>
          <a:xfrm>
            <a:off x="6233008" y="2103120"/>
            <a:ext cx="2522144" cy="713232"/>
          </a:xfrm>
          <a:prstGeom prst="rect">
            <a:avLst/>
          </a:prstGeom>
          <a:noFill/>
          <a:ln/>
        </p:spPr>
        <p:txBody>
          <a:bodyPr wrap="square" lIns="0" tIns="0" rIns="0" bIns="0" rtlCol="0" anchor="t"/>
          <a:lstStyle/>
          <a:p>
            <a:pPr algn="l" indent="0" marL="0">
              <a:lnSpc>
                <a:spcPct val="100000"/>
              </a:lnSpc>
              <a:buNone/>
            </a:pPr>
            <a:r>
              <a:rPr lang="en-US" sz="4400" b="1" dirty="0">
                <a:solidFill>
                  <a:srgbClr val="16181D"/>
                </a:solidFill>
              </a:rPr>
              <a:t>7+</a:t>
            </a:r>
            <a:endParaRPr lang="en-US" sz="4400" dirty="0"/>
          </a:p>
        </p:txBody>
      </p:sp>
      <p:sp>
        <p:nvSpPr>
          <p:cNvPr id="20" name="Text 18"/>
          <p:cNvSpPr txBox="1"/>
          <p:nvPr/>
        </p:nvSpPr>
        <p:spPr>
          <a:xfrm>
            <a:off x="6233008" y="2779776"/>
            <a:ext cx="2522144" cy="274320"/>
          </a:xfrm>
          <a:prstGeom prst="rect">
            <a:avLst/>
          </a:prstGeom>
          <a:noFill/>
          <a:ln/>
        </p:spPr>
        <p:txBody>
          <a:bodyPr wrap="square" lIns="0" tIns="0" rIns="0" bIns="0" rtlCol="0" anchor="t"/>
          <a:lstStyle/>
          <a:p>
            <a:pPr algn="l" indent="0" marL="0">
              <a:lnSpc>
                <a:spcPct val="110000"/>
              </a:lnSpc>
              <a:buNone/>
            </a:pPr>
            <a:r>
              <a:rPr lang="en-US" sz="1400" b="1" dirty="0">
                <a:solidFill>
                  <a:srgbClr val="16181D"/>
                </a:solidFill>
              </a:rPr>
              <a:t>bodies hold the drains</a:t>
            </a:r>
            <a:endParaRPr lang="en-US" sz="1400" dirty="0"/>
          </a:p>
        </p:txBody>
      </p:sp>
      <p:sp>
        <p:nvSpPr>
          <p:cNvPr id="21" name="Text 19"/>
          <p:cNvSpPr txBox="1"/>
          <p:nvPr/>
        </p:nvSpPr>
        <p:spPr>
          <a:xfrm>
            <a:off x="6233008" y="3072384"/>
            <a:ext cx="2522144" cy="36576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Major drains, about 3,740 km</a:t>
            </a:r>
            <a:endParaRPr lang="en-US" sz="1200" dirty="0"/>
          </a:p>
        </p:txBody>
      </p:sp>
      <p:sp>
        <p:nvSpPr>
          <p:cNvPr id="22" name="Text 20"/>
          <p:cNvSpPr txBox="1"/>
          <p:nvPr/>
        </p:nvSpPr>
        <p:spPr>
          <a:xfrm>
            <a:off x="6233008" y="3703320"/>
            <a:ext cx="2522144" cy="100584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Shared management lets each agency blame another</a:t>
            </a:r>
            <a:endParaRPr lang="en-US" sz="1500" dirty="0"/>
          </a:p>
        </p:txBody>
      </p:sp>
      <p:sp>
        <p:nvSpPr>
          <p:cNvPr id="23" name="Shape 21"/>
          <p:cNvSpPr/>
          <p:nvPr/>
        </p:nvSpPr>
        <p:spPr>
          <a:xfrm>
            <a:off x="8782583" y="1874520"/>
            <a:ext cx="155448" cy="0"/>
          </a:xfrm>
          <a:prstGeom prst="line">
            <a:avLst/>
          </a:prstGeom>
          <a:noFill/>
          <a:ln w="15875">
            <a:solidFill>
              <a:srgbClr val="5D636E"/>
            </a:solidFill>
            <a:prstDash val="solid"/>
            <a:tailEnd type="triangle"/>
          </a:ln>
        </p:spPr>
      </p:sp>
      <p:sp>
        <p:nvSpPr>
          <p:cNvPr id="24" name="Shape 22"/>
          <p:cNvSpPr/>
          <p:nvPr/>
        </p:nvSpPr>
        <p:spPr>
          <a:xfrm>
            <a:off x="9029471" y="1600200"/>
            <a:ext cx="2522144" cy="0"/>
          </a:xfrm>
          <a:prstGeom prst="line">
            <a:avLst/>
          </a:prstGeom>
          <a:noFill/>
          <a:ln w="9525">
            <a:solidFill>
              <a:srgbClr val="B8BEC6"/>
            </a:solidFill>
            <a:prstDash val="solid"/>
          </a:ln>
        </p:spPr>
      </p:sp>
      <p:sp>
        <p:nvSpPr>
          <p:cNvPr id="25" name="Text 23"/>
          <p:cNvSpPr txBox="1"/>
          <p:nvPr/>
        </p:nvSpPr>
        <p:spPr>
          <a:xfrm>
            <a:off x="9029471" y="1737360"/>
            <a:ext cx="2522144" cy="27432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Groundwater</a:t>
            </a:r>
            <a:endParaRPr lang="en-US" sz="1200" dirty="0"/>
          </a:p>
        </p:txBody>
      </p:sp>
      <p:sp>
        <p:nvSpPr>
          <p:cNvPr id="26" name="Text 24"/>
          <p:cNvSpPr txBox="1"/>
          <p:nvPr/>
        </p:nvSpPr>
        <p:spPr>
          <a:xfrm>
            <a:off x="9029471" y="2103120"/>
            <a:ext cx="2522144" cy="713232"/>
          </a:xfrm>
          <a:prstGeom prst="rect">
            <a:avLst/>
          </a:prstGeom>
          <a:noFill/>
          <a:ln/>
        </p:spPr>
        <p:txBody>
          <a:bodyPr wrap="square" lIns="0" tIns="0" rIns="0" bIns="0" rtlCol="0" anchor="t"/>
          <a:lstStyle/>
          <a:p>
            <a:pPr algn="l" indent="0" marL="0">
              <a:lnSpc>
                <a:spcPct val="100000"/>
              </a:lnSpc>
              <a:buNone/>
            </a:pPr>
            <a:r>
              <a:rPr lang="en-US" sz="4400" b="1" dirty="0">
                <a:solidFill>
                  <a:srgbClr val="16181D"/>
                </a:solidFill>
              </a:rPr>
              <a:t>137%</a:t>
            </a:r>
            <a:endParaRPr lang="en-US" sz="4400" dirty="0"/>
          </a:p>
        </p:txBody>
      </p:sp>
      <p:sp>
        <p:nvSpPr>
          <p:cNvPr id="27" name="Text 25"/>
          <p:cNvSpPr txBox="1"/>
          <p:nvPr/>
        </p:nvSpPr>
        <p:spPr>
          <a:xfrm>
            <a:off x="9029471" y="2779776"/>
            <a:ext cx="2522144" cy="274320"/>
          </a:xfrm>
          <a:prstGeom prst="rect">
            <a:avLst/>
          </a:prstGeom>
          <a:noFill/>
          <a:ln/>
        </p:spPr>
        <p:txBody>
          <a:bodyPr wrap="square" lIns="0" tIns="0" rIns="0" bIns="0" rtlCol="0" anchor="t"/>
          <a:lstStyle/>
          <a:p>
            <a:pPr algn="l" indent="0" marL="0">
              <a:lnSpc>
                <a:spcPct val="110000"/>
              </a:lnSpc>
              <a:buNone/>
            </a:pPr>
            <a:r>
              <a:rPr lang="en-US" sz="1400" b="1" dirty="0">
                <a:solidFill>
                  <a:srgbClr val="16181D"/>
                </a:solidFill>
              </a:rPr>
              <a:t>groundwater draft</a:t>
            </a:r>
            <a:endParaRPr lang="en-US" sz="1400" dirty="0"/>
          </a:p>
        </p:txBody>
      </p:sp>
      <p:sp>
        <p:nvSpPr>
          <p:cNvPr id="28" name="Text 26"/>
          <p:cNvSpPr txBox="1"/>
          <p:nvPr/>
        </p:nvSpPr>
        <p:spPr>
          <a:xfrm>
            <a:off x="9029471" y="3072384"/>
            <a:ext cx="2522144" cy="36576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Delhi, CGWB study, 2014</a:t>
            </a:r>
            <a:endParaRPr lang="en-US" sz="1200" dirty="0"/>
          </a:p>
        </p:txBody>
      </p:sp>
      <p:sp>
        <p:nvSpPr>
          <p:cNvPr id="29" name="Text 27"/>
          <p:cNvSpPr txBox="1"/>
          <p:nvPr/>
        </p:nvSpPr>
        <p:spPr>
          <a:xfrm>
            <a:off x="9029471" y="3703320"/>
            <a:ext cx="2522144" cy="100584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Rain that leaves by the drain does not recharge the aquifer</a:t>
            </a:r>
            <a:endParaRPr lang="en-US" sz="1500" dirty="0"/>
          </a:p>
        </p:txBody>
      </p:sp>
      <p:sp>
        <p:nvSpPr>
          <p:cNvPr id="30" name="Shape 28"/>
          <p:cNvSpPr/>
          <p:nvPr/>
        </p:nvSpPr>
        <p:spPr>
          <a:xfrm>
            <a:off x="640080" y="5212080"/>
            <a:ext cx="10911535" cy="640080"/>
          </a:xfrm>
          <a:prstGeom prst="rect">
            <a:avLst/>
          </a:prstGeom>
          <a:solidFill>
            <a:srgbClr val="E8EAED"/>
          </a:solidFill>
          <a:ln/>
        </p:spPr>
      </p:sp>
      <p:sp>
        <p:nvSpPr>
          <p:cNvPr id="31" name="Text 29"/>
          <p:cNvSpPr txBox="1"/>
          <p:nvPr/>
        </p:nvSpPr>
        <p:spPr>
          <a:xfrm>
            <a:off x="914400" y="5212080"/>
            <a:ext cx="10362895" cy="640080"/>
          </a:xfrm>
          <a:prstGeom prst="rect">
            <a:avLst/>
          </a:prstGeom>
          <a:noFill/>
          <a:ln/>
        </p:spPr>
        <p:txBody>
          <a:bodyPr wrap="square" lIns="0" tIns="0" rIns="0" bIns="0" rtlCol="0" anchor="ctr"/>
          <a:lstStyle/>
          <a:p>
            <a:pPr algn="l" indent="0" marL="0">
              <a:lnSpc>
                <a:spcPct val="110000"/>
              </a:lnSpc>
              <a:buNone/>
            </a:pPr>
            <a:r>
              <a:rPr lang="en-US" sz="1600" b="1" dirty="0">
                <a:solidFill>
                  <a:srgbClr val="16181D"/>
                </a:solidFill>
              </a:rPr>
              <a:t>The water is known. The owner is not.</a:t>
            </a:r>
            <a:endParaRPr lang="en-US" sz="16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Rain-Ready turns the hazard into a list with names on it, and aims at zero unanswered complaints</a:t>
            </a:r>
            <a:endParaRPr lang="en-US" sz="2800" dirty="0"/>
          </a:p>
        </p:txBody>
      </p:sp>
      <p:sp>
        <p:nvSpPr>
          <p:cNvPr id="3" name="Shape 1"/>
          <p:cNvSpPr/>
          <p:nvPr/>
        </p:nvSpPr>
        <p:spPr>
          <a:xfrm>
            <a:off x="640080" y="1600200"/>
            <a:ext cx="6250762" cy="0"/>
          </a:xfrm>
          <a:prstGeom prst="line">
            <a:avLst/>
          </a:prstGeom>
          <a:noFill/>
          <a:ln w="9525">
            <a:solidFill>
              <a:srgbClr val="DADDE1"/>
            </a:solidFill>
            <a:prstDash val="solid"/>
          </a:ln>
        </p:spPr>
      </p:sp>
      <p:sp>
        <p:nvSpPr>
          <p:cNvPr id="4" name="Text 2"/>
          <p:cNvSpPr txBox="1"/>
          <p:nvPr/>
        </p:nvSpPr>
        <p:spPr>
          <a:xfrm>
            <a:off x="640080" y="1755648"/>
            <a:ext cx="1942379" cy="105156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Visible owner</a:t>
            </a:r>
            <a:endParaRPr lang="en-US" sz="1600" dirty="0"/>
          </a:p>
        </p:txBody>
      </p:sp>
      <p:sp>
        <p:nvSpPr>
          <p:cNvPr id="5" name="Text 3"/>
          <p:cNvSpPr txBox="1"/>
          <p:nvPr/>
        </p:nvSpPr>
        <p:spPr>
          <a:xfrm>
            <a:off x="2765339" y="1755648"/>
            <a:ext cx="4125503" cy="105156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Every drain shows its agency, or the words No owner found</a:t>
            </a:r>
            <a:endParaRPr lang="en-US" sz="1500" dirty="0"/>
          </a:p>
        </p:txBody>
      </p:sp>
      <p:sp>
        <p:nvSpPr>
          <p:cNvPr id="6" name="Shape 4"/>
          <p:cNvSpPr/>
          <p:nvPr/>
        </p:nvSpPr>
        <p:spPr>
          <a:xfrm>
            <a:off x="640080" y="2926080"/>
            <a:ext cx="6250762" cy="0"/>
          </a:xfrm>
          <a:prstGeom prst="line">
            <a:avLst/>
          </a:prstGeom>
          <a:noFill/>
          <a:ln w="9525">
            <a:solidFill>
              <a:srgbClr val="DADDE1"/>
            </a:solidFill>
            <a:prstDash val="solid"/>
          </a:ln>
        </p:spPr>
      </p:sp>
      <p:sp>
        <p:nvSpPr>
          <p:cNvPr id="7" name="Text 5"/>
          <p:cNvSpPr txBox="1"/>
          <p:nvPr/>
        </p:nvSpPr>
        <p:spPr>
          <a:xfrm>
            <a:off x="640080" y="3081528"/>
            <a:ext cx="1942379" cy="105156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Provable work</a:t>
            </a:r>
            <a:endParaRPr lang="en-US" sz="1600" dirty="0"/>
          </a:p>
        </p:txBody>
      </p:sp>
      <p:sp>
        <p:nvSpPr>
          <p:cNvPr id="8" name="Text 6"/>
          <p:cNvSpPr txBox="1"/>
          <p:nvPr/>
        </p:nvSpPr>
        <p:spPr>
          <a:xfrm>
            <a:off x="2765339" y="3081528"/>
            <a:ext cx="4125503" cy="105156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Before and after photos, confirmed by a different resident</a:t>
            </a:r>
            <a:endParaRPr lang="en-US" sz="1500" dirty="0"/>
          </a:p>
        </p:txBody>
      </p:sp>
      <p:sp>
        <p:nvSpPr>
          <p:cNvPr id="9" name="Shape 7"/>
          <p:cNvSpPr/>
          <p:nvPr/>
        </p:nvSpPr>
        <p:spPr>
          <a:xfrm>
            <a:off x="640080" y="4251960"/>
            <a:ext cx="6250762" cy="0"/>
          </a:xfrm>
          <a:prstGeom prst="line">
            <a:avLst/>
          </a:prstGeom>
          <a:noFill/>
          <a:ln w="9525">
            <a:solidFill>
              <a:srgbClr val="DADDE1"/>
            </a:solidFill>
            <a:prstDash val="solid"/>
          </a:ln>
        </p:spPr>
      </p:sp>
      <p:sp>
        <p:nvSpPr>
          <p:cNvPr id="10" name="Text 8"/>
          <p:cNvSpPr txBox="1"/>
          <p:nvPr/>
        </p:nvSpPr>
        <p:spPr>
          <a:xfrm>
            <a:off x="640080" y="4407408"/>
            <a:ext cx="1942379" cy="105156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Clear priority</a:t>
            </a:r>
            <a:endParaRPr lang="en-US" sz="1600" dirty="0"/>
          </a:p>
        </p:txBody>
      </p:sp>
      <p:sp>
        <p:nvSpPr>
          <p:cNvPr id="11" name="Text 9"/>
          <p:cNvSpPr txBox="1"/>
          <p:nvPr/>
        </p:nvSpPr>
        <p:spPr>
          <a:xfrm>
            <a:off x="2765339" y="4407408"/>
            <a:ext cx="4125503" cy="105156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Drains ranked by the hours of fill time cleaning buys</a:t>
            </a:r>
            <a:endParaRPr lang="en-US" sz="1500" dirty="0"/>
          </a:p>
        </p:txBody>
      </p:sp>
      <p:sp>
        <p:nvSpPr>
          <p:cNvPr id="12" name="Shape 10"/>
          <p:cNvSpPr/>
          <p:nvPr/>
        </p:nvSpPr>
        <p:spPr>
          <a:xfrm>
            <a:off x="640080" y="5577840"/>
            <a:ext cx="6250762" cy="0"/>
          </a:xfrm>
          <a:prstGeom prst="line">
            <a:avLst/>
          </a:prstGeom>
          <a:noFill/>
          <a:ln w="9525">
            <a:solidFill>
              <a:srgbClr val="DADDE1"/>
            </a:solidFill>
            <a:prstDash val="solid"/>
          </a:ln>
        </p:spPr>
      </p:sp>
      <p:sp>
        <p:nvSpPr>
          <p:cNvPr id="13" name="Shape 11"/>
          <p:cNvSpPr/>
          <p:nvPr/>
        </p:nvSpPr>
        <p:spPr>
          <a:xfrm>
            <a:off x="7822997" y="1600200"/>
            <a:ext cx="0" cy="4023360"/>
          </a:xfrm>
          <a:prstGeom prst="line">
            <a:avLst/>
          </a:prstGeom>
          <a:noFill/>
          <a:ln w="9525">
            <a:solidFill>
              <a:srgbClr val="DADDE1"/>
            </a:solidFill>
            <a:prstDash val="solid"/>
          </a:ln>
        </p:spPr>
      </p:sp>
      <p:sp>
        <p:nvSpPr>
          <p:cNvPr id="14" name="Text 12"/>
          <p:cNvSpPr txBox="1"/>
          <p:nvPr/>
        </p:nvSpPr>
        <p:spPr>
          <a:xfrm>
            <a:off x="8097317" y="1600200"/>
            <a:ext cx="3454298" cy="27432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Target impact, pilot ward (proposed)</a:t>
            </a:r>
            <a:endParaRPr lang="en-US" sz="1200" dirty="0"/>
          </a:p>
        </p:txBody>
      </p:sp>
      <p:sp>
        <p:nvSpPr>
          <p:cNvPr id="15" name="Text 13"/>
          <p:cNvSpPr txBox="1"/>
          <p:nvPr/>
        </p:nvSpPr>
        <p:spPr>
          <a:xfrm>
            <a:off x="8097317" y="2057400"/>
            <a:ext cx="3454298" cy="713232"/>
          </a:xfrm>
          <a:prstGeom prst="rect">
            <a:avLst/>
          </a:prstGeom>
          <a:noFill/>
          <a:ln/>
        </p:spPr>
        <p:txBody>
          <a:bodyPr wrap="square" lIns="0" tIns="0" rIns="0" bIns="0" rtlCol="0" anchor="t"/>
          <a:lstStyle/>
          <a:p>
            <a:pPr algn="l" indent="0" marL="0">
              <a:lnSpc>
                <a:spcPct val="100000"/>
              </a:lnSpc>
              <a:buNone/>
            </a:pPr>
            <a:r>
              <a:rPr lang="en-US" sz="4400" b="1" dirty="0">
                <a:solidFill>
                  <a:srgbClr val="D2412B"/>
                </a:solidFill>
              </a:rPr>
              <a:t>100%</a:t>
            </a:r>
            <a:endParaRPr lang="en-US" sz="4400" dirty="0"/>
          </a:p>
        </p:txBody>
      </p:sp>
      <p:sp>
        <p:nvSpPr>
          <p:cNvPr id="16" name="Text 14"/>
          <p:cNvSpPr txBox="1"/>
          <p:nvPr/>
        </p:nvSpPr>
        <p:spPr>
          <a:xfrm>
            <a:off x="8097317" y="2734056"/>
            <a:ext cx="3454298" cy="274320"/>
          </a:xfrm>
          <a:prstGeom prst="rect">
            <a:avLst/>
          </a:prstGeom>
          <a:noFill/>
          <a:ln/>
        </p:spPr>
        <p:txBody>
          <a:bodyPr wrap="square" lIns="0" tIns="0" rIns="0" bIns="0" rtlCol="0" anchor="t"/>
          <a:lstStyle/>
          <a:p>
            <a:pPr algn="l" indent="0" marL="0">
              <a:lnSpc>
                <a:spcPct val="110000"/>
              </a:lnSpc>
              <a:buNone/>
            </a:pPr>
            <a:r>
              <a:rPr lang="en-US" sz="1400" b="1" dirty="0">
                <a:solidFill>
                  <a:srgbClr val="16181D"/>
                </a:solidFill>
              </a:rPr>
              <a:t>of drains show an owner or a gap</a:t>
            </a:r>
            <a:endParaRPr lang="en-US" sz="1400" dirty="0"/>
          </a:p>
        </p:txBody>
      </p:sp>
      <p:sp>
        <p:nvSpPr>
          <p:cNvPr id="17" name="Text 15"/>
          <p:cNvSpPr txBox="1"/>
          <p:nvPr/>
        </p:nvSpPr>
        <p:spPr>
          <a:xfrm>
            <a:off x="8097317" y="3026664"/>
            <a:ext cx="3454298" cy="36576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Named agency or No owner found</a:t>
            </a:r>
            <a:endParaRPr lang="en-US" sz="1200" dirty="0"/>
          </a:p>
        </p:txBody>
      </p:sp>
      <p:sp>
        <p:nvSpPr>
          <p:cNvPr id="18" name="Text 16"/>
          <p:cNvSpPr txBox="1"/>
          <p:nvPr/>
        </p:nvSpPr>
        <p:spPr>
          <a:xfrm>
            <a:off x="8097317" y="3703320"/>
            <a:ext cx="3454298" cy="713232"/>
          </a:xfrm>
          <a:prstGeom prst="rect">
            <a:avLst/>
          </a:prstGeom>
          <a:noFill/>
          <a:ln/>
        </p:spPr>
        <p:txBody>
          <a:bodyPr wrap="square" lIns="0" tIns="0" rIns="0" bIns="0" rtlCol="0" anchor="t"/>
          <a:lstStyle/>
          <a:p>
            <a:pPr algn="l" indent="0" marL="0">
              <a:lnSpc>
                <a:spcPct val="100000"/>
              </a:lnSpc>
              <a:buNone/>
            </a:pPr>
            <a:r>
              <a:rPr lang="en-US" sz="4400" b="1" dirty="0">
                <a:solidFill>
                  <a:srgbClr val="16181D"/>
                </a:solidFill>
              </a:rPr>
              <a:t>0</a:t>
            </a:r>
            <a:endParaRPr lang="en-US" sz="4400" dirty="0"/>
          </a:p>
        </p:txBody>
      </p:sp>
      <p:sp>
        <p:nvSpPr>
          <p:cNvPr id="19" name="Text 17"/>
          <p:cNvSpPr txBox="1"/>
          <p:nvPr/>
        </p:nvSpPr>
        <p:spPr>
          <a:xfrm>
            <a:off x="8097317" y="4379976"/>
            <a:ext cx="3454298" cy="274320"/>
          </a:xfrm>
          <a:prstGeom prst="rect">
            <a:avLst/>
          </a:prstGeom>
          <a:noFill/>
          <a:ln/>
        </p:spPr>
        <p:txBody>
          <a:bodyPr wrap="square" lIns="0" tIns="0" rIns="0" bIns="0" rtlCol="0" anchor="t"/>
          <a:lstStyle/>
          <a:p>
            <a:pPr algn="l" indent="0" marL="0">
              <a:lnSpc>
                <a:spcPct val="110000"/>
              </a:lnSpc>
              <a:buNone/>
            </a:pPr>
            <a:r>
              <a:rPr lang="en-US" sz="1400" b="1" dirty="0">
                <a:solidFill>
                  <a:srgbClr val="16181D"/>
                </a:solidFill>
              </a:rPr>
              <a:t>complaints with no visible end</a:t>
            </a:r>
            <a:endParaRPr lang="en-US" sz="1400" dirty="0"/>
          </a:p>
        </p:txBody>
      </p:sp>
      <p:sp>
        <p:nvSpPr>
          <p:cNvPr id="20" name="Text 18"/>
          <p:cNvSpPr txBox="1"/>
          <p:nvPr/>
        </p:nvSpPr>
        <p:spPr>
          <a:xfrm>
            <a:off x="8097317" y="4672584"/>
            <a:ext cx="3454298" cy="36576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Each ends confirmed or disputed</a:t>
            </a:r>
            <a:endParaRPr lang="en-US" sz="12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Social engineering here means designing conditions so the right action is visible, easy and checked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11535" cy="914400"/>
        </p:xfrm>
        <a:graphic>
          <a:graphicData uri="http://schemas.openxmlformats.org/drawingml/2006/table">
            <a:tbl>
              <a:tblPr/>
              <a:tblGrid>
                <a:gridCol w="3657600"/>
                <a:gridCol w="3749040"/>
                <a:gridCol w="3504895"/>
              </a:tblGrid>
              <a:tr h="658368">
                <a:tc>
                  <a:txBody>
                    <a:bodyPr/>
                    <a:lstStyle/>
                    <a:p>
                      <a:pPr indent="0" marL="0">
                        <a:buNone/>
                      </a:pPr>
                      <a:r>
                        <a:rPr lang="en-US" sz="1200" b="1" dirty="0">
                          <a:solidFill>
                            <a:srgbClr val="5D636E"/>
                          </a:solidFill>
                        </a:rPr>
                        <a:t>What happens today</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tcPr>
                </a:tc>
                <a:tc>
                  <a:txBody>
                    <a:bodyPr/>
                    <a:lstStyle/>
                    <a:p>
                      <a:pPr indent="0" marL="0">
                        <a:buNone/>
                      </a:pPr>
                      <a:r>
                        <a:rPr lang="en-US" sz="1200" b="1" dirty="0">
                          <a:solidFill>
                            <a:srgbClr val="5D636E"/>
                          </a:solidFill>
                        </a:rPr>
                        <a:t>Condition we design</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tcPr>
                </a:tc>
                <a:tc>
                  <a:txBody>
                    <a:bodyPr/>
                    <a:lstStyle/>
                    <a:p>
                      <a:pPr indent="0" marL="0">
                        <a:buNone/>
                      </a:pPr>
                      <a:r>
                        <a:rPr lang="en-US" sz="1200" b="1" dirty="0">
                          <a:solidFill>
                            <a:srgbClr val="5D636E"/>
                          </a:solidFill>
                        </a:rPr>
                        <a:t>What it can change</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tcPr>
                </a:tc>
              </a:tr>
              <a:tr h="658368">
                <a:tc>
                  <a:txBody>
                    <a:bodyPr/>
                    <a:lstStyle/>
                    <a:p>
                      <a:pPr indent="0" marL="0">
                        <a:buNone/>
                      </a:pPr>
                      <a:r>
                        <a:rPr lang="en-US" sz="1400" b="1" dirty="0">
                          <a:solidFill>
                            <a:srgbClr val="16181D"/>
                          </a:solidFill>
                        </a:rPr>
                        <a:t>Nobody knows whose drain it is</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Owner named in public, or No owner found</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Fewer complaints passed between agencies</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658368">
                <a:tc>
                  <a:txBody>
                    <a:bodyPr/>
                    <a:lstStyle/>
                    <a:p>
                      <a:pPr indent="0" marL="0">
                        <a:buNone/>
                      </a:pPr>
                      <a:r>
                        <a:rPr lang="en-US" sz="1400" b="1" dirty="0">
                          <a:solidFill>
                            <a:srgbClr val="16181D"/>
                          </a:solidFill>
                        </a:rPr>
                        <a:t>A complaint has no visible end</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Bounces and overdue tasks are counted</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A reason to act before the rain</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658368">
                <a:tc>
                  <a:txBody>
                    <a:bodyPr/>
                    <a:lstStyle/>
                    <a:p>
                      <a:pPr indent="0" marL="0">
                        <a:buNone/>
                      </a:pPr>
                      <a:r>
                        <a:rPr lang="en-US" sz="1400" b="1" dirty="0">
                          <a:solidFill>
                            <a:srgbClr val="16181D"/>
                          </a:solidFill>
                        </a:rPr>
                        <a:t>All drains look equally urgent</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Drains ranked by fill time gained</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Crews go where an hour matters most</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658368">
                <a:tc>
                  <a:txBody>
                    <a:bodyPr/>
                    <a:lstStyle/>
                    <a:p>
                      <a:pPr indent="0" marL="0">
                        <a:buNone/>
                      </a:pPr>
                      <a:r>
                        <a:rPr lang="en-US" sz="1400" b="1" dirty="0">
                          <a:solidFill>
                            <a:srgbClr val="16181D"/>
                          </a:solidFill>
                        </a:rPr>
                        <a:t>Finished work is taken on trust</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A different resident confirms it</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Work checked by the people it affects</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bl>
          </a:graphicData>
        </a:graphic>
      </p:graphicFrame>
      <p:sp>
        <p:nvSpPr>
          <p:cNvPr id="4" name="Shape 1"/>
          <p:cNvSpPr/>
          <p:nvPr/>
        </p:nvSpPr>
        <p:spPr>
          <a:xfrm>
            <a:off x="640080" y="4983480"/>
            <a:ext cx="10911535" cy="640080"/>
          </a:xfrm>
          <a:prstGeom prst="rect">
            <a:avLst/>
          </a:prstGeom>
          <a:solidFill>
            <a:srgbClr val="E8EAED"/>
          </a:solidFill>
          <a:ln/>
        </p:spPr>
      </p:sp>
      <p:sp>
        <p:nvSpPr>
          <p:cNvPr id="5" name="Text 2"/>
          <p:cNvSpPr txBox="1"/>
          <p:nvPr/>
        </p:nvSpPr>
        <p:spPr>
          <a:xfrm>
            <a:off x="914400" y="4983480"/>
            <a:ext cx="10362895" cy="640080"/>
          </a:xfrm>
          <a:prstGeom prst="rect">
            <a:avLst/>
          </a:prstGeom>
          <a:noFill/>
          <a:ln/>
        </p:spPr>
        <p:txBody>
          <a:bodyPr wrap="square" lIns="0" tIns="0" rIns="0" bIns="0" rtlCol="0" anchor="ctr"/>
          <a:lstStyle/>
          <a:p>
            <a:pPr algn="l" indent="0" marL="0">
              <a:lnSpc>
                <a:spcPct val="110000"/>
              </a:lnSpc>
              <a:buNone/>
            </a:pPr>
            <a:r>
              <a:rPr lang="en-US" sz="1600" b="1" dirty="0">
                <a:solidFill>
                  <a:srgbClr val="16181D"/>
                </a:solidFill>
              </a:rPr>
              <a:t>Objective: a reason to act before the rain, and proof afterwards.</a:t>
            </a:r>
            <a:endParaRPr lang="en-US" sz="16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Each call to action meets a known failure, and each has a designed answer</a:t>
            </a:r>
            <a:endParaRPr lang="en-US" sz="2800" dirty="0"/>
          </a:p>
        </p:txBody>
      </p:sp>
      <p:sp>
        <p:nvSpPr>
          <p:cNvPr id="3" name="Shape 1"/>
          <p:cNvSpPr/>
          <p:nvPr/>
        </p:nvSpPr>
        <p:spPr>
          <a:xfrm>
            <a:off x="640080" y="1691640"/>
            <a:ext cx="1691640" cy="1051560"/>
          </a:xfrm>
          <a:prstGeom prst="rect">
            <a:avLst/>
          </a:prstGeom>
          <a:solidFill>
            <a:srgbClr val="F3F4F6"/>
          </a:solidFill>
          <a:ln w="9525">
            <a:solidFill>
              <a:srgbClr val="B8BEC6"/>
            </a:solidFill>
            <a:prstDash val="solid"/>
          </a:ln>
        </p:spPr>
      </p:sp>
      <p:sp>
        <p:nvSpPr>
          <p:cNvPr id="4" name="Text 2"/>
          <p:cNvSpPr txBox="1"/>
          <p:nvPr/>
        </p:nvSpPr>
        <p:spPr>
          <a:xfrm>
            <a:off x="749808" y="1783080"/>
            <a:ext cx="1472184" cy="43434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Report</a:t>
            </a:r>
            <a:endParaRPr lang="en-US" sz="1400" dirty="0"/>
          </a:p>
        </p:txBody>
      </p:sp>
      <p:sp>
        <p:nvSpPr>
          <p:cNvPr id="5" name="Text 3"/>
          <p:cNvSpPr txBox="1"/>
          <p:nvPr/>
        </p:nvSpPr>
        <p:spPr>
          <a:xfrm>
            <a:off x="749808" y="2253996"/>
            <a:ext cx="1472184" cy="41605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resident</a:t>
            </a:r>
            <a:endParaRPr lang="en-US" sz="1100" dirty="0"/>
          </a:p>
        </p:txBody>
      </p:sp>
      <p:sp>
        <p:nvSpPr>
          <p:cNvPr id="6" name="Shape 4"/>
          <p:cNvSpPr/>
          <p:nvPr/>
        </p:nvSpPr>
        <p:spPr>
          <a:xfrm>
            <a:off x="2331720" y="2217420"/>
            <a:ext cx="613334" cy="0"/>
          </a:xfrm>
          <a:prstGeom prst="line">
            <a:avLst/>
          </a:prstGeom>
          <a:noFill/>
          <a:ln w="15875">
            <a:solidFill>
              <a:srgbClr val="5D636E"/>
            </a:solidFill>
            <a:prstDash val="solid"/>
            <a:tailEnd type="triangle"/>
          </a:ln>
        </p:spPr>
      </p:sp>
      <p:sp>
        <p:nvSpPr>
          <p:cNvPr id="7" name="Shape 5"/>
          <p:cNvSpPr/>
          <p:nvPr/>
        </p:nvSpPr>
        <p:spPr>
          <a:xfrm>
            <a:off x="640080" y="3063240"/>
            <a:ext cx="1691640" cy="0"/>
          </a:xfrm>
          <a:prstGeom prst="line">
            <a:avLst/>
          </a:prstGeom>
          <a:noFill/>
          <a:ln w="9525">
            <a:solidFill>
              <a:srgbClr val="B8BEC6"/>
            </a:solidFill>
            <a:prstDash val="solid"/>
          </a:ln>
        </p:spPr>
      </p:sp>
      <p:sp>
        <p:nvSpPr>
          <p:cNvPr id="8" name="Text 6"/>
          <p:cNvSpPr txBox="1"/>
          <p:nvPr/>
        </p:nvSpPr>
        <p:spPr>
          <a:xfrm>
            <a:off x="640080" y="3172968"/>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Risk</a:t>
            </a:r>
            <a:endParaRPr lang="en-US" sz="1100" dirty="0"/>
          </a:p>
        </p:txBody>
      </p:sp>
      <p:sp>
        <p:nvSpPr>
          <p:cNvPr id="9" name="Text 7"/>
          <p:cNvSpPr txBox="1"/>
          <p:nvPr/>
        </p:nvSpPr>
        <p:spPr>
          <a:xfrm>
            <a:off x="640080" y="3410712"/>
            <a:ext cx="1691640" cy="548640"/>
          </a:xfrm>
          <a:prstGeom prst="rect">
            <a:avLst/>
          </a:prstGeom>
          <a:noFill/>
          <a:ln/>
        </p:spPr>
        <p:txBody>
          <a:bodyPr wrap="square" lIns="0" tIns="0" rIns="0" bIns="0" rtlCol="0" anchor="t"/>
          <a:lstStyle/>
          <a:p>
            <a:pPr algn="l" indent="0" marL="0">
              <a:lnSpc>
                <a:spcPct val="105000"/>
              </a:lnSpc>
              <a:buNone/>
            </a:pPr>
            <a:r>
              <a:rPr lang="en-US" sz="1400" b="1" dirty="0">
                <a:solidFill>
                  <a:srgbClr val="16181D"/>
                </a:solidFill>
              </a:rPr>
              <a:t>Reports vanish</a:t>
            </a:r>
            <a:endParaRPr lang="en-US" sz="1400" dirty="0"/>
          </a:p>
        </p:txBody>
      </p:sp>
      <p:sp>
        <p:nvSpPr>
          <p:cNvPr id="10" name="Text 8"/>
          <p:cNvSpPr txBox="1"/>
          <p:nvPr/>
        </p:nvSpPr>
        <p:spPr>
          <a:xfrm>
            <a:off x="640080" y="4069080"/>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Answer</a:t>
            </a:r>
            <a:endParaRPr lang="en-US" sz="1100" dirty="0"/>
          </a:p>
        </p:txBody>
      </p:sp>
      <p:sp>
        <p:nvSpPr>
          <p:cNvPr id="11" name="Text 9"/>
          <p:cNvSpPr txBox="1"/>
          <p:nvPr/>
        </p:nvSpPr>
        <p:spPr>
          <a:xfrm>
            <a:off x="640080" y="4306824"/>
            <a:ext cx="1691640" cy="822960"/>
          </a:xfrm>
          <a:prstGeom prst="rect">
            <a:avLst/>
          </a:prstGeom>
          <a:noFill/>
          <a:ln/>
        </p:spPr>
        <p:txBody>
          <a:bodyPr wrap="square" lIns="0" tIns="0" rIns="0" bIns="0" rtlCol="0" anchor="t"/>
          <a:lstStyle/>
          <a:p>
            <a:pPr algn="l" indent="0" marL="0">
              <a:lnSpc>
                <a:spcPct val="110000"/>
              </a:lnSpc>
              <a:buNone/>
            </a:pPr>
            <a:r>
              <a:rPr lang="en-US" sz="1400" dirty="0">
                <a:solidFill>
                  <a:srgbClr val="16181D"/>
                </a:solidFill>
              </a:rPr>
              <a:t>Every task shows its end state</a:t>
            </a:r>
            <a:endParaRPr lang="en-US" sz="1400" dirty="0"/>
          </a:p>
        </p:txBody>
      </p:sp>
      <p:sp>
        <p:nvSpPr>
          <p:cNvPr id="12" name="Shape 10"/>
          <p:cNvSpPr/>
          <p:nvPr/>
        </p:nvSpPr>
        <p:spPr>
          <a:xfrm>
            <a:off x="2945054" y="1691640"/>
            <a:ext cx="1691640" cy="1051560"/>
          </a:xfrm>
          <a:prstGeom prst="rect">
            <a:avLst/>
          </a:prstGeom>
          <a:solidFill>
            <a:srgbClr val="D2412B"/>
          </a:solidFill>
          <a:ln/>
        </p:spPr>
      </p:sp>
      <p:sp>
        <p:nvSpPr>
          <p:cNvPr id="13" name="Text 11"/>
          <p:cNvSpPr txBox="1"/>
          <p:nvPr/>
        </p:nvSpPr>
        <p:spPr>
          <a:xfrm>
            <a:off x="3054782" y="1783080"/>
            <a:ext cx="1472184" cy="434340"/>
          </a:xfrm>
          <a:prstGeom prst="rect">
            <a:avLst/>
          </a:prstGeom>
          <a:noFill/>
          <a:ln/>
        </p:spPr>
        <p:txBody>
          <a:bodyPr wrap="square" lIns="0" tIns="0" rIns="0" bIns="0" rtlCol="0" anchor="b"/>
          <a:lstStyle/>
          <a:p>
            <a:pPr algn="ctr" indent="0" marL="0">
              <a:lnSpc>
                <a:spcPct val="100000"/>
              </a:lnSpc>
              <a:buNone/>
            </a:pPr>
            <a:r>
              <a:rPr lang="en-US" sz="1400" b="1" dirty="0">
                <a:solidFill>
                  <a:srgbClr val="FFFFFF"/>
                </a:solidFill>
              </a:rPr>
              <a:t>Assign</a:t>
            </a:r>
            <a:endParaRPr lang="en-US" sz="1400" dirty="0"/>
          </a:p>
        </p:txBody>
      </p:sp>
      <p:sp>
        <p:nvSpPr>
          <p:cNvPr id="14" name="Text 12"/>
          <p:cNvSpPr txBox="1"/>
          <p:nvPr/>
        </p:nvSpPr>
        <p:spPr>
          <a:xfrm>
            <a:off x="3054782" y="2253996"/>
            <a:ext cx="1472184" cy="416052"/>
          </a:xfrm>
          <a:prstGeom prst="rect">
            <a:avLst/>
          </a:prstGeom>
          <a:noFill/>
          <a:ln/>
        </p:spPr>
        <p:txBody>
          <a:bodyPr wrap="square" lIns="0" tIns="0" rIns="0" bIns="0" rtlCol="0" anchor="t"/>
          <a:lstStyle/>
          <a:p>
            <a:pPr algn="ctr" indent="0" marL="0">
              <a:lnSpc>
                <a:spcPct val="100000"/>
              </a:lnSpc>
              <a:buNone/>
            </a:pPr>
            <a:r>
              <a:rPr lang="en-US" sz="1100" dirty="0">
                <a:solidFill>
                  <a:srgbClr val="FFFFFF"/>
                </a:solidFill>
              </a:rPr>
              <a:t>system</a:t>
            </a:r>
            <a:endParaRPr lang="en-US" sz="1100" dirty="0"/>
          </a:p>
        </p:txBody>
      </p:sp>
      <p:sp>
        <p:nvSpPr>
          <p:cNvPr id="15" name="Shape 13"/>
          <p:cNvSpPr/>
          <p:nvPr/>
        </p:nvSpPr>
        <p:spPr>
          <a:xfrm>
            <a:off x="4636694" y="2217420"/>
            <a:ext cx="613334" cy="0"/>
          </a:xfrm>
          <a:prstGeom prst="line">
            <a:avLst/>
          </a:prstGeom>
          <a:noFill/>
          <a:ln w="15875">
            <a:solidFill>
              <a:srgbClr val="5D636E"/>
            </a:solidFill>
            <a:prstDash val="solid"/>
            <a:tailEnd type="triangle"/>
          </a:ln>
        </p:spPr>
      </p:sp>
      <p:sp>
        <p:nvSpPr>
          <p:cNvPr id="16" name="Shape 14"/>
          <p:cNvSpPr/>
          <p:nvPr/>
        </p:nvSpPr>
        <p:spPr>
          <a:xfrm>
            <a:off x="2945054" y="3063240"/>
            <a:ext cx="1691640" cy="0"/>
          </a:xfrm>
          <a:prstGeom prst="line">
            <a:avLst/>
          </a:prstGeom>
          <a:noFill/>
          <a:ln w="9525">
            <a:solidFill>
              <a:srgbClr val="B8BEC6"/>
            </a:solidFill>
            <a:prstDash val="solid"/>
          </a:ln>
        </p:spPr>
      </p:sp>
      <p:sp>
        <p:nvSpPr>
          <p:cNvPr id="17" name="Text 15"/>
          <p:cNvSpPr txBox="1"/>
          <p:nvPr/>
        </p:nvSpPr>
        <p:spPr>
          <a:xfrm>
            <a:off x="2945054" y="3172968"/>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Risk</a:t>
            </a:r>
            <a:endParaRPr lang="en-US" sz="1100" dirty="0"/>
          </a:p>
        </p:txBody>
      </p:sp>
      <p:sp>
        <p:nvSpPr>
          <p:cNvPr id="18" name="Text 16"/>
          <p:cNvSpPr txBox="1"/>
          <p:nvPr/>
        </p:nvSpPr>
        <p:spPr>
          <a:xfrm>
            <a:off x="2945054" y="3410712"/>
            <a:ext cx="1691640" cy="548640"/>
          </a:xfrm>
          <a:prstGeom prst="rect">
            <a:avLst/>
          </a:prstGeom>
          <a:noFill/>
          <a:ln/>
        </p:spPr>
        <p:txBody>
          <a:bodyPr wrap="square" lIns="0" tIns="0" rIns="0" bIns="0" rtlCol="0" anchor="t"/>
          <a:lstStyle/>
          <a:p>
            <a:pPr algn="l" indent="0" marL="0">
              <a:lnSpc>
                <a:spcPct val="105000"/>
              </a:lnSpc>
              <a:buNone/>
            </a:pPr>
            <a:r>
              <a:rPr lang="en-US" sz="1400" b="1" dirty="0">
                <a:solidFill>
                  <a:srgbClr val="16181D"/>
                </a:solidFill>
              </a:rPr>
              <a:t>Nobody owns it</a:t>
            </a:r>
            <a:endParaRPr lang="en-US" sz="1400" dirty="0"/>
          </a:p>
        </p:txBody>
      </p:sp>
      <p:sp>
        <p:nvSpPr>
          <p:cNvPr id="19" name="Text 17"/>
          <p:cNvSpPr txBox="1"/>
          <p:nvPr/>
        </p:nvSpPr>
        <p:spPr>
          <a:xfrm>
            <a:off x="2945054" y="4069080"/>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Answer</a:t>
            </a:r>
            <a:endParaRPr lang="en-US" sz="1100" dirty="0"/>
          </a:p>
        </p:txBody>
      </p:sp>
      <p:sp>
        <p:nvSpPr>
          <p:cNvPr id="20" name="Text 18"/>
          <p:cNvSpPr txBox="1"/>
          <p:nvPr/>
        </p:nvSpPr>
        <p:spPr>
          <a:xfrm>
            <a:off x="2945054" y="4306824"/>
            <a:ext cx="1691640" cy="822960"/>
          </a:xfrm>
          <a:prstGeom prst="rect">
            <a:avLst/>
          </a:prstGeom>
          <a:noFill/>
          <a:ln/>
        </p:spPr>
        <p:txBody>
          <a:bodyPr wrap="square" lIns="0" tIns="0" rIns="0" bIns="0" rtlCol="0" anchor="t"/>
          <a:lstStyle/>
          <a:p>
            <a:pPr algn="l" indent="0" marL="0">
              <a:lnSpc>
                <a:spcPct val="110000"/>
              </a:lnSpc>
              <a:buNone/>
            </a:pPr>
            <a:r>
              <a:rPr lang="en-US" sz="1400" dirty="0">
                <a:solidFill>
                  <a:srgbClr val="16181D"/>
                </a:solidFill>
              </a:rPr>
              <a:t>Say so: No owner found</a:t>
            </a:r>
            <a:endParaRPr lang="en-US" sz="1400" dirty="0"/>
          </a:p>
        </p:txBody>
      </p:sp>
      <p:sp>
        <p:nvSpPr>
          <p:cNvPr id="21" name="Shape 19"/>
          <p:cNvSpPr/>
          <p:nvPr/>
        </p:nvSpPr>
        <p:spPr>
          <a:xfrm>
            <a:off x="5250028" y="1691640"/>
            <a:ext cx="1691640" cy="1051560"/>
          </a:xfrm>
          <a:prstGeom prst="rect">
            <a:avLst/>
          </a:prstGeom>
          <a:solidFill>
            <a:srgbClr val="F3F4F6"/>
          </a:solidFill>
          <a:ln w="9525">
            <a:solidFill>
              <a:srgbClr val="B8BEC6"/>
            </a:solidFill>
            <a:prstDash val="solid"/>
          </a:ln>
        </p:spPr>
      </p:sp>
      <p:sp>
        <p:nvSpPr>
          <p:cNvPr id="22" name="Text 20"/>
          <p:cNvSpPr txBox="1"/>
          <p:nvPr/>
        </p:nvSpPr>
        <p:spPr>
          <a:xfrm>
            <a:off x="5359756" y="1783080"/>
            <a:ext cx="1472184" cy="43434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Fix</a:t>
            </a:r>
            <a:endParaRPr lang="en-US" sz="1400" dirty="0"/>
          </a:p>
        </p:txBody>
      </p:sp>
      <p:sp>
        <p:nvSpPr>
          <p:cNvPr id="23" name="Text 21"/>
          <p:cNvSpPr txBox="1"/>
          <p:nvPr/>
        </p:nvSpPr>
        <p:spPr>
          <a:xfrm>
            <a:off x="5359756" y="2253996"/>
            <a:ext cx="1472184" cy="41605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agency official</a:t>
            </a:r>
            <a:endParaRPr lang="en-US" sz="1100" dirty="0"/>
          </a:p>
        </p:txBody>
      </p:sp>
      <p:sp>
        <p:nvSpPr>
          <p:cNvPr id="24" name="Shape 22"/>
          <p:cNvSpPr/>
          <p:nvPr/>
        </p:nvSpPr>
        <p:spPr>
          <a:xfrm>
            <a:off x="6941668" y="2217420"/>
            <a:ext cx="613334" cy="0"/>
          </a:xfrm>
          <a:prstGeom prst="line">
            <a:avLst/>
          </a:prstGeom>
          <a:noFill/>
          <a:ln w="15875">
            <a:solidFill>
              <a:srgbClr val="5D636E"/>
            </a:solidFill>
            <a:prstDash val="solid"/>
            <a:tailEnd type="triangle"/>
          </a:ln>
        </p:spPr>
      </p:sp>
      <p:sp>
        <p:nvSpPr>
          <p:cNvPr id="25" name="Shape 23"/>
          <p:cNvSpPr/>
          <p:nvPr/>
        </p:nvSpPr>
        <p:spPr>
          <a:xfrm>
            <a:off x="5250028" y="3063240"/>
            <a:ext cx="1691640" cy="0"/>
          </a:xfrm>
          <a:prstGeom prst="line">
            <a:avLst/>
          </a:prstGeom>
          <a:noFill/>
          <a:ln w="9525">
            <a:solidFill>
              <a:srgbClr val="B8BEC6"/>
            </a:solidFill>
            <a:prstDash val="solid"/>
          </a:ln>
        </p:spPr>
      </p:sp>
      <p:sp>
        <p:nvSpPr>
          <p:cNvPr id="26" name="Text 24"/>
          <p:cNvSpPr txBox="1"/>
          <p:nvPr/>
        </p:nvSpPr>
        <p:spPr>
          <a:xfrm>
            <a:off x="5250028" y="3172968"/>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Risk</a:t>
            </a:r>
            <a:endParaRPr lang="en-US" sz="1100" dirty="0"/>
          </a:p>
        </p:txBody>
      </p:sp>
      <p:sp>
        <p:nvSpPr>
          <p:cNvPr id="27" name="Text 25"/>
          <p:cNvSpPr txBox="1"/>
          <p:nvPr/>
        </p:nvSpPr>
        <p:spPr>
          <a:xfrm>
            <a:off x="5250028" y="3410712"/>
            <a:ext cx="1691640" cy="548640"/>
          </a:xfrm>
          <a:prstGeom prst="rect">
            <a:avLst/>
          </a:prstGeom>
          <a:noFill/>
          <a:ln/>
        </p:spPr>
        <p:txBody>
          <a:bodyPr wrap="square" lIns="0" tIns="0" rIns="0" bIns="0" rtlCol="0" anchor="t"/>
          <a:lstStyle/>
          <a:p>
            <a:pPr algn="l" indent="0" marL="0">
              <a:lnSpc>
                <a:spcPct val="105000"/>
              </a:lnSpc>
              <a:buNone/>
            </a:pPr>
            <a:r>
              <a:rPr lang="en-US" sz="1400" b="1" dirty="0">
                <a:solidFill>
                  <a:srgbClr val="16181D"/>
                </a:solidFill>
              </a:rPr>
              <a:t>Marked done, not done</a:t>
            </a:r>
            <a:endParaRPr lang="en-US" sz="1400" dirty="0"/>
          </a:p>
        </p:txBody>
      </p:sp>
      <p:sp>
        <p:nvSpPr>
          <p:cNvPr id="28" name="Text 26"/>
          <p:cNvSpPr txBox="1"/>
          <p:nvPr/>
        </p:nvSpPr>
        <p:spPr>
          <a:xfrm>
            <a:off x="5250028" y="4069080"/>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Answer</a:t>
            </a:r>
            <a:endParaRPr lang="en-US" sz="1100" dirty="0"/>
          </a:p>
        </p:txBody>
      </p:sp>
      <p:sp>
        <p:nvSpPr>
          <p:cNvPr id="29" name="Text 27"/>
          <p:cNvSpPr txBox="1"/>
          <p:nvPr/>
        </p:nvSpPr>
        <p:spPr>
          <a:xfrm>
            <a:off x="5250028" y="4306824"/>
            <a:ext cx="1691640" cy="822960"/>
          </a:xfrm>
          <a:prstGeom prst="rect">
            <a:avLst/>
          </a:prstGeom>
          <a:noFill/>
          <a:ln/>
        </p:spPr>
        <p:txBody>
          <a:bodyPr wrap="square" lIns="0" tIns="0" rIns="0" bIns="0" rtlCol="0" anchor="t"/>
          <a:lstStyle/>
          <a:p>
            <a:pPr algn="l" indent="0" marL="0">
              <a:lnSpc>
                <a:spcPct val="110000"/>
              </a:lnSpc>
              <a:buNone/>
            </a:pPr>
            <a:r>
              <a:rPr lang="en-US" sz="1400" dirty="0">
                <a:solidFill>
                  <a:srgbClr val="16181D"/>
                </a:solidFill>
              </a:rPr>
              <a:t>After-photo, place and time checks</a:t>
            </a:r>
            <a:endParaRPr lang="en-US" sz="1400" dirty="0"/>
          </a:p>
        </p:txBody>
      </p:sp>
      <p:sp>
        <p:nvSpPr>
          <p:cNvPr id="30" name="Shape 28"/>
          <p:cNvSpPr/>
          <p:nvPr/>
        </p:nvSpPr>
        <p:spPr>
          <a:xfrm>
            <a:off x="7555001" y="1691640"/>
            <a:ext cx="1691640" cy="1051560"/>
          </a:xfrm>
          <a:prstGeom prst="rect">
            <a:avLst/>
          </a:prstGeom>
          <a:solidFill>
            <a:srgbClr val="F3F4F6"/>
          </a:solidFill>
          <a:ln w="9525">
            <a:solidFill>
              <a:srgbClr val="B8BEC6"/>
            </a:solidFill>
            <a:prstDash val="solid"/>
          </a:ln>
        </p:spPr>
      </p:sp>
      <p:sp>
        <p:nvSpPr>
          <p:cNvPr id="31" name="Text 29"/>
          <p:cNvSpPr txBox="1"/>
          <p:nvPr/>
        </p:nvSpPr>
        <p:spPr>
          <a:xfrm>
            <a:off x="7664729" y="1783080"/>
            <a:ext cx="1472184" cy="43434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Confirm</a:t>
            </a:r>
            <a:endParaRPr lang="en-US" sz="1400" dirty="0"/>
          </a:p>
        </p:txBody>
      </p:sp>
      <p:sp>
        <p:nvSpPr>
          <p:cNvPr id="32" name="Text 30"/>
          <p:cNvSpPr txBox="1"/>
          <p:nvPr/>
        </p:nvSpPr>
        <p:spPr>
          <a:xfrm>
            <a:off x="7664729" y="2253996"/>
            <a:ext cx="1472184" cy="41605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a different resident</a:t>
            </a:r>
            <a:endParaRPr lang="en-US" sz="1100" dirty="0"/>
          </a:p>
        </p:txBody>
      </p:sp>
      <p:sp>
        <p:nvSpPr>
          <p:cNvPr id="33" name="Shape 31"/>
          <p:cNvSpPr/>
          <p:nvPr/>
        </p:nvSpPr>
        <p:spPr>
          <a:xfrm>
            <a:off x="9246641" y="2217420"/>
            <a:ext cx="613334" cy="0"/>
          </a:xfrm>
          <a:prstGeom prst="line">
            <a:avLst/>
          </a:prstGeom>
          <a:noFill/>
          <a:ln w="15875">
            <a:solidFill>
              <a:srgbClr val="5D636E"/>
            </a:solidFill>
            <a:prstDash val="solid"/>
            <a:tailEnd type="triangle"/>
          </a:ln>
        </p:spPr>
      </p:sp>
      <p:sp>
        <p:nvSpPr>
          <p:cNvPr id="34" name="Shape 32"/>
          <p:cNvSpPr/>
          <p:nvPr/>
        </p:nvSpPr>
        <p:spPr>
          <a:xfrm>
            <a:off x="7555001" y="3063240"/>
            <a:ext cx="1691640" cy="0"/>
          </a:xfrm>
          <a:prstGeom prst="line">
            <a:avLst/>
          </a:prstGeom>
          <a:noFill/>
          <a:ln w="9525">
            <a:solidFill>
              <a:srgbClr val="B8BEC6"/>
            </a:solidFill>
            <a:prstDash val="solid"/>
          </a:ln>
        </p:spPr>
      </p:sp>
      <p:sp>
        <p:nvSpPr>
          <p:cNvPr id="35" name="Text 33"/>
          <p:cNvSpPr txBox="1"/>
          <p:nvPr/>
        </p:nvSpPr>
        <p:spPr>
          <a:xfrm>
            <a:off x="7555001" y="3172968"/>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Risk</a:t>
            </a:r>
            <a:endParaRPr lang="en-US" sz="1100" dirty="0"/>
          </a:p>
        </p:txBody>
      </p:sp>
      <p:sp>
        <p:nvSpPr>
          <p:cNvPr id="36" name="Text 34"/>
          <p:cNvSpPr txBox="1"/>
          <p:nvPr/>
        </p:nvSpPr>
        <p:spPr>
          <a:xfrm>
            <a:off x="7555001" y="3410712"/>
            <a:ext cx="1691640" cy="548640"/>
          </a:xfrm>
          <a:prstGeom prst="rect">
            <a:avLst/>
          </a:prstGeom>
          <a:noFill/>
          <a:ln/>
        </p:spPr>
        <p:txBody>
          <a:bodyPr wrap="square" lIns="0" tIns="0" rIns="0" bIns="0" rtlCol="0" anchor="t"/>
          <a:lstStyle/>
          <a:p>
            <a:pPr algn="l" indent="0" marL="0">
              <a:lnSpc>
                <a:spcPct val="105000"/>
              </a:lnSpc>
              <a:buNone/>
            </a:pPr>
            <a:r>
              <a:rPr lang="en-US" sz="1400" b="1" dirty="0">
                <a:solidFill>
                  <a:srgbClr val="16181D"/>
                </a:solidFill>
              </a:rPr>
              <a:t>Self-approval</a:t>
            </a:r>
            <a:endParaRPr lang="en-US" sz="1400" dirty="0"/>
          </a:p>
        </p:txBody>
      </p:sp>
      <p:sp>
        <p:nvSpPr>
          <p:cNvPr id="37" name="Text 35"/>
          <p:cNvSpPr txBox="1"/>
          <p:nvPr/>
        </p:nvSpPr>
        <p:spPr>
          <a:xfrm>
            <a:off x="7555001" y="4069080"/>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Answer</a:t>
            </a:r>
            <a:endParaRPr lang="en-US" sz="1100" dirty="0"/>
          </a:p>
        </p:txBody>
      </p:sp>
      <p:sp>
        <p:nvSpPr>
          <p:cNvPr id="38" name="Text 36"/>
          <p:cNvSpPr txBox="1"/>
          <p:nvPr/>
        </p:nvSpPr>
        <p:spPr>
          <a:xfrm>
            <a:off x="7555001" y="4306824"/>
            <a:ext cx="1691640" cy="822960"/>
          </a:xfrm>
          <a:prstGeom prst="rect">
            <a:avLst/>
          </a:prstGeom>
          <a:noFill/>
          <a:ln/>
        </p:spPr>
        <p:txBody>
          <a:bodyPr wrap="square" lIns="0" tIns="0" rIns="0" bIns="0" rtlCol="0" anchor="t"/>
          <a:lstStyle/>
          <a:p>
            <a:pPr algn="l" indent="0" marL="0">
              <a:lnSpc>
                <a:spcPct val="110000"/>
              </a:lnSpc>
              <a:buNone/>
            </a:pPr>
            <a:r>
              <a:rPr lang="en-US" sz="1400" dirty="0">
                <a:solidFill>
                  <a:srgbClr val="16181D"/>
                </a:solidFill>
              </a:rPr>
              <a:t>The worker cannot confirm own job</a:t>
            </a:r>
            <a:endParaRPr lang="en-US" sz="1400" dirty="0"/>
          </a:p>
        </p:txBody>
      </p:sp>
      <p:sp>
        <p:nvSpPr>
          <p:cNvPr id="39" name="Shape 37"/>
          <p:cNvSpPr/>
          <p:nvPr/>
        </p:nvSpPr>
        <p:spPr>
          <a:xfrm>
            <a:off x="9859975" y="1691640"/>
            <a:ext cx="1691640" cy="1051560"/>
          </a:xfrm>
          <a:prstGeom prst="rect">
            <a:avLst/>
          </a:prstGeom>
          <a:solidFill>
            <a:srgbClr val="F3F4F6"/>
          </a:solidFill>
          <a:ln w="9525">
            <a:solidFill>
              <a:srgbClr val="B8BEC6"/>
            </a:solidFill>
            <a:prstDash val="solid"/>
          </a:ln>
        </p:spPr>
      </p:sp>
      <p:sp>
        <p:nvSpPr>
          <p:cNvPr id="40" name="Text 38"/>
          <p:cNvSpPr txBox="1"/>
          <p:nvPr/>
        </p:nvSpPr>
        <p:spPr>
          <a:xfrm>
            <a:off x="9969703" y="1783080"/>
            <a:ext cx="1472184" cy="43434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Measure</a:t>
            </a:r>
            <a:endParaRPr lang="en-US" sz="1400" dirty="0"/>
          </a:p>
        </p:txBody>
      </p:sp>
      <p:sp>
        <p:nvSpPr>
          <p:cNvPr id="41" name="Text 39"/>
          <p:cNvSpPr txBox="1"/>
          <p:nvPr/>
        </p:nvSpPr>
        <p:spPr>
          <a:xfrm>
            <a:off x="9969703" y="2253996"/>
            <a:ext cx="1472184" cy="41605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everyone</a:t>
            </a:r>
            <a:endParaRPr lang="en-US" sz="1100" dirty="0"/>
          </a:p>
        </p:txBody>
      </p:sp>
      <p:sp>
        <p:nvSpPr>
          <p:cNvPr id="42" name="Shape 40"/>
          <p:cNvSpPr/>
          <p:nvPr/>
        </p:nvSpPr>
        <p:spPr>
          <a:xfrm>
            <a:off x="9859975" y="3063240"/>
            <a:ext cx="1691640" cy="0"/>
          </a:xfrm>
          <a:prstGeom prst="line">
            <a:avLst/>
          </a:prstGeom>
          <a:noFill/>
          <a:ln w="9525">
            <a:solidFill>
              <a:srgbClr val="B8BEC6"/>
            </a:solidFill>
            <a:prstDash val="solid"/>
          </a:ln>
        </p:spPr>
      </p:sp>
      <p:sp>
        <p:nvSpPr>
          <p:cNvPr id="43" name="Text 41"/>
          <p:cNvSpPr txBox="1"/>
          <p:nvPr/>
        </p:nvSpPr>
        <p:spPr>
          <a:xfrm>
            <a:off x="9859975" y="3172968"/>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Risk</a:t>
            </a:r>
            <a:endParaRPr lang="en-US" sz="1100" dirty="0"/>
          </a:p>
        </p:txBody>
      </p:sp>
      <p:sp>
        <p:nvSpPr>
          <p:cNvPr id="44" name="Text 42"/>
          <p:cNvSpPr txBox="1"/>
          <p:nvPr/>
        </p:nvSpPr>
        <p:spPr>
          <a:xfrm>
            <a:off x="9859975" y="3410712"/>
            <a:ext cx="1691640" cy="548640"/>
          </a:xfrm>
          <a:prstGeom prst="rect">
            <a:avLst/>
          </a:prstGeom>
          <a:noFill/>
          <a:ln/>
        </p:spPr>
        <p:txBody>
          <a:bodyPr wrap="square" lIns="0" tIns="0" rIns="0" bIns="0" rtlCol="0" anchor="t"/>
          <a:lstStyle/>
          <a:p>
            <a:pPr algn="l" indent="0" marL="0">
              <a:lnSpc>
                <a:spcPct val="105000"/>
              </a:lnSpc>
              <a:buNone/>
            </a:pPr>
            <a:r>
              <a:rPr lang="en-US" sz="1400" b="1" dirty="0">
                <a:solidFill>
                  <a:srgbClr val="16181D"/>
                </a:solidFill>
              </a:rPr>
              <a:t>No consequence</a:t>
            </a:r>
            <a:endParaRPr lang="en-US" sz="1400" dirty="0"/>
          </a:p>
        </p:txBody>
      </p:sp>
      <p:sp>
        <p:nvSpPr>
          <p:cNvPr id="45" name="Text 43"/>
          <p:cNvSpPr txBox="1"/>
          <p:nvPr/>
        </p:nvSpPr>
        <p:spPr>
          <a:xfrm>
            <a:off x="9859975" y="4069080"/>
            <a:ext cx="1691640" cy="228600"/>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Answer</a:t>
            </a:r>
            <a:endParaRPr lang="en-US" sz="1100" dirty="0"/>
          </a:p>
        </p:txBody>
      </p:sp>
      <p:sp>
        <p:nvSpPr>
          <p:cNvPr id="46" name="Text 44"/>
          <p:cNvSpPr txBox="1"/>
          <p:nvPr/>
        </p:nvSpPr>
        <p:spPr>
          <a:xfrm>
            <a:off x="9859975" y="4306824"/>
            <a:ext cx="1691640" cy="822960"/>
          </a:xfrm>
          <a:prstGeom prst="rect">
            <a:avLst/>
          </a:prstGeom>
          <a:noFill/>
          <a:ln/>
        </p:spPr>
        <p:txBody>
          <a:bodyPr wrap="square" lIns="0" tIns="0" rIns="0" bIns="0" rtlCol="0" anchor="t"/>
          <a:lstStyle/>
          <a:p>
            <a:pPr algn="l" indent="0" marL="0">
              <a:lnSpc>
                <a:spcPct val="110000"/>
              </a:lnSpc>
              <a:buNone/>
            </a:pPr>
            <a:r>
              <a:rPr lang="en-US" sz="1400" dirty="0">
                <a:solidFill>
                  <a:srgbClr val="16181D"/>
                </a:solidFill>
              </a:rPr>
              <a:t>Bounces and overdue stay visible</a:t>
            </a:r>
            <a:endParaRPr lang="en-US" sz="1400" dirty="0"/>
          </a:p>
        </p:txBody>
      </p:sp>
      <p:sp>
        <p:nvSpPr>
          <p:cNvPr id="47" name="Shape 45"/>
          <p:cNvSpPr/>
          <p:nvPr/>
        </p:nvSpPr>
        <p:spPr>
          <a:xfrm>
            <a:off x="640080" y="5257800"/>
            <a:ext cx="10911535" cy="640080"/>
          </a:xfrm>
          <a:prstGeom prst="rect">
            <a:avLst/>
          </a:prstGeom>
          <a:solidFill>
            <a:srgbClr val="E8EAED"/>
          </a:solidFill>
          <a:ln/>
        </p:spPr>
      </p:sp>
      <p:sp>
        <p:nvSpPr>
          <p:cNvPr id="48" name="Text 46"/>
          <p:cNvSpPr txBox="1"/>
          <p:nvPr/>
        </p:nvSpPr>
        <p:spPr>
          <a:xfrm>
            <a:off x="914400" y="5257800"/>
            <a:ext cx="10362895" cy="640080"/>
          </a:xfrm>
          <a:prstGeom prst="rect">
            <a:avLst/>
          </a:prstGeom>
          <a:noFill/>
          <a:ln/>
        </p:spPr>
        <p:txBody>
          <a:bodyPr wrap="square" lIns="0" tIns="0" rIns="0" bIns="0" rtlCol="0" anchor="ctr"/>
          <a:lstStyle/>
          <a:p>
            <a:pPr algn="l" indent="0" marL="0">
              <a:lnSpc>
                <a:spcPct val="110000"/>
              </a:lnSpc>
              <a:buNone/>
            </a:pPr>
            <a:r>
              <a:rPr lang="en-US" sz="1600" b="1" dirty="0">
                <a:solidFill>
                  <a:srgbClr val="16181D"/>
                </a:solidFill>
              </a:rPr>
              <a:t>Four roles, one loop, every step on record.</a:t>
            </a:r>
            <a:endParaRPr lang="en-US" sz="16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One server, one web codebase and three AWS services carry the whole loop</a:t>
            </a:r>
            <a:endParaRPr lang="en-US" sz="2800" dirty="0"/>
          </a:p>
        </p:txBody>
      </p:sp>
      <p:sp>
        <p:nvSpPr>
          <p:cNvPr id="3" name="Shape 1"/>
          <p:cNvSpPr/>
          <p:nvPr/>
        </p:nvSpPr>
        <p:spPr>
          <a:xfrm>
            <a:off x="2834640" y="1828800"/>
            <a:ext cx="5120640" cy="2194560"/>
          </a:xfrm>
          <a:prstGeom prst="rect">
            <a:avLst/>
          </a:prstGeom>
          <a:solidFill>
            <a:srgbClr val="E8EAED"/>
          </a:solidFill>
          <a:ln/>
        </p:spPr>
      </p:sp>
      <p:sp>
        <p:nvSpPr>
          <p:cNvPr id="4" name="Text 2"/>
          <p:cNvSpPr txBox="1"/>
          <p:nvPr/>
        </p:nvSpPr>
        <p:spPr>
          <a:xfrm>
            <a:off x="3017520" y="1938528"/>
            <a:ext cx="4754880" cy="256032"/>
          </a:xfrm>
          <a:prstGeom prst="rect">
            <a:avLst/>
          </a:prstGeom>
          <a:noFill/>
          <a:ln/>
        </p:spPr>
        <p:txBody>
          <a:bodyPr wrap="square" lIns="0" tIns="0" rIns="0" bIns="0" rtlCol="0" anchor="t"/>
          <a:lstStyle/>
          <a:p>
            <a:pPr algn="l" indent="0" marL="0">
              <a:lnSpc>
                <a:spcPct val="110000"/>
              </a:lnSpc>
              <a:buNone/>
            </a:pPr>
            <a:r>
              <a:rPr lang="en-US" sz="1100" dirty="0">
                <a:solidFill>
                  <a:srgbClr val="5D636E"/>
                </a:solidFill>
              </a:rPr>
              <a:t>EC2 t3.small, ap-south-1</a:t>
            </a:r>
            <a:endParaRPr lang="en-US" sz="1100" dirty="0"/>
          </a:p>
        </p:txBody>
      </p:sp>
      <p:sp>
        <p:nvSpPr>
          <p:cNvPr id="5" name="Shape 3"/>
          <p:cNvSpPr/>
          <p:nvPr/>
        </p:nvSpPr>
        <p:spPr>
          <a:xfrm>
            <a:off x="640080" y="2651760"/>
            <a:ext cx="1554480" cy="1005840"/>
          </a:xfrm>
          <a:prstGeom prst="rect">
            <a:avLst/>
          </a:prstGeom>
          <a:solidFill>
            <a:srgbClr val="F3F4F6"/>
          </a:solidFill>
          <a:ln w="9525">
            <a:solidFill>
              <a:srgbClr val="B8BEC6"/>
            </a:solidFill>
            <a:prstDash val="solid"/>
          </a:ln>
        </p:spPr>
      </p:sp>
      <p:sp>
        <p:nvSpPr>
          <p:cNvPr id="6" name="Text 4"/>
          <p:cNvSpPr txBox="1"/>
          <p:nvPr/>
        </p:nvSpPr>
        <p:spPr>
          <a:xfrm>
            <a:off x="749808" y="2743200"/>
            <a:ext cx="1335024" cy="41148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Phone or browser</a:t>
            </a:r>
            <a:endParaRPr lang="en-US" sz="1400" dirty="0"/>
          </a:p>
        </p:txBody>
      </p:sp>
      <p:sp>
        <p:nvSpPr>
          <p:cNvPr id="7" name="Text 5"/>
          <p:cNvSpPr txBox="1"/>
          <p:nvPr/>
        </p:nvSpPr>
        <p:spPr>
          <a:xfrm>
            <a:off x="749808" y="3191256"/>
            <a:ext cx="1335024" cy="39319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APK or web</a:t>
            </a:r>
            <a:endParaRPr lang="en-US" sz="1100" dirty="0"/>
          </a:p>
        </p:txBody>
      </p:sp>
      <p:sp>
        <p:nvSpPr>
          <p:cNvPr id="8" name="Shape 6"/>
          <p:cNvSpPr/>
          <p:nvPr/>
        </p:nvSpPr>
        <p:spPr>
          <a:xfrm>
            <a:off x="3017520" y="2651760"/>
            <a:ext cx="1371600" cy="1005840"/>
          </a:xfrm>
          <a:prstGeom prst="rect">
            <a:avLst/>
          </a:prstGeom>
          <a:solidFill>
            <a:srgbClr val="F3F4F6"/>
          </a:solidFill>
          <a:ln w="9525">
            <a:solidFill>
              <a:srgbClr val="B8BEC6"/>
            </a:solidFill>
            <a:prstDash val="solid"/>
          </a:ln>
        </p:spPr>
      </p:sp>
      <p:sp>
        <p:nvSpPr>
          <p:cNvPr id="9" name="Text 7"/>
          <p:cNvSpPr txBox="1"/>
          <p:nvPr/>
        </p:nvSpPr>
        <p:spPr>
          <a:xfrm>
            <a:off x="3127248" y="2743200"/>
            <a:ext cx="1152144" cy="41148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Caddy</a:t>
            </a:r>
            <a:endParaRPr lang="en-US" sz="1400" dirty="0"/>
          </a:p>
        </p:txBody>
      </p:sp>
      <p:sp>
        <p:nvSpPr>
          <p:cNvPr id="10" name="Text 8"/>
          <p:cNvSpPr txBox="1"/>
          <p:nvPr/>
        </p:nvSpPr>
        <p:spPr>
          <a:xfrm>
            <a:off x="3127248" y="3191256"/>
            <a:ext cx="1152144" cy="39319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HTTPS, certificate</a:t>
            </a:r>
            <a:endParaRPr lang="en-US" sz="1100" dirty="0"/>
          </a:p>
        </p:txBody>
      </p:sp>
      <p:sp>
        <p:nvSpPr>
          <p:cNvPr id="11" name="Shape 9"/>
          <p:cNvSpPr/>
          <p:nvPr/>
        </p:nvSpPr>
        <p:spPr>
          <a:xfrm>
            <a:off x="4937760" y="2651760"/>
            <a:ext cx="2834640" cy="1005840"/>
          </a:xfrm>
          <a:prstGeom prst="rect">
            <a:avLst/>
          </a:prstGeom>
          <a:solidFill>
            <a:srgbClr val="D2412B"/>
          </a:solidFill>
          <a:ln/>
        </p:spPr>
      </p:sp>
      <p:sp>
        <p:nvSpPr>
          <p:cNvPr id="12" name="Text 10"/>
          <p:cNvSpPr txBox="1"/>
          <p:nvPr/>
        </p:nvSpPr>
        <p:spPr>
          <a:xfrm>
            <a:off x="5047488" y="2743200"/>
            <a:ext cx="2615184" cy="411480"/>
          </a:xfrm>
          <a:prstGeom prst="rect">
            <a:avLst/>
          </a:prstGeom>
          <a:noFill/>
          <a:ln/>
        </p:spPr>
        <p:txBody>
          <a:bodyPr wrap="square" lIns="0" tIns="0" rIns="0" bIns="0" rtlCol="0" anchor="b"/>
          <a:lstStyle/>
          <a:p>
            <a:pPr algn="ctr" indent="0" marL="0">
              <a:lnSpc>
                <a:spcPct val="100000"/>
              </a:lnSpc>
              <a:buNone/>
            </a:pPr>
            <a:r>
              <a:rPr lang="en-US" sz="1400" b="1" dirty="0">
                <a:solidFill>
                  <a:srgbClr val="FFFFFF"/>
                </a:solidFill>
              </a:rPr>
              <a:t>FastAPI + SQLite</a:t>
            </a:r>
            <a:endParaRPr lang="en-US" sz="1400" dirty="0"/>
          </a:p>
        </p:txBody>
      </p:sp>
      <p:sp>
        <p:nvSpPr>
          <p:cNvPr id="13" name="Text 11"/>
          <p:cNvSpPr txBox="1"/>
          <p:nvPr/>
        </p:nvSpPr>
        <p:spPr>
          <a:xfrm>
            <a:off x="5047488" y="3191256"/>
            <a:ext cx="2615184" cy="393192"/>
          </a:xfrm>
          <a:prstGeom prst="rect">
            <a:avLst/>
          </a:prstGeom>
          <a:noFill/>
          <a:ln/>
        </p:spPr>
        <p:txBody>
          <a:bodyPr wrap="square" lIns="0" tIns="0" rIns="0" bIns="0" rtlCol="0" anchor="t"/>
          <a:lstStyle/>
          <a:p>
            <a:pPr algn="ctr" indent="0" marL="0">
              <a:lnSpc>
                <a:spcPct val="100000"/>
              </a:lnSpc>
              <a:buNone/>
            </a:pPr>
            <a:r>
              <a:rPr lang="en-US" sz="1100" dirty="0">
                <a:solidFill>
                  <a:srgbClr val="FFFFFF"/>
                </a:solidFill>
              </a:rPr>
              <a:t>loop, ranking, rules</a:t>
            </a:r>
            <a:endParaRPr lang="en-US" sz="1100" dirty="0"/>
          </a:p>
        </p:txBody>
      </p:sp>
      <p:sp>
        <p:nvSpPr>
          <p:cNvPr id="14" name="Shape 12"/>
          <p:cNvSpPr/>
          <p:nvPr/>
        </p:nvSpPr>
        <p:spPr>
          <a:xfrm>
            <a:off x="4206240" y="4754880"/>
            <a:ext cx="1737360" cy="914400"/>
          </a:xfrm>
          <a:prstGeom prst="rect">
            <a:avLst/>
          </a:prstGeom>
          <a:solidFill>
            <a:srgbClr val="F3F4F6"/>
          </a:solidFill>
          <a:ln w="9525">
            <a:solidFill>
              <a:srgbClr val="B8BEC6"/>
            </a:solidFill>
            <a:prstDash val="solid"/>
          </a:ln>
        </p:spPr>
      </p:sp>
      <p:sp>
        <p:nvSpPr>
          <p:cNvPr id="15" name="Text 13"/>
          <p:cNvSpPr txBox="1"/>
          <p:nvPr/>
        </p:nvSpPr>
        <p:spPr>
          <a:xfrm>
            <a:off x="4315968" y="4846320"/>
            <a:ext cx="1517904" cy="36576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S3</a:t>
            </a:r>
            <a:endParaRPr lang="en-US" sz="1400" dirty="0"/>
          </a:p>
        </p:txBody>
      </p:sp>
      <p:sp>
        <p:nvSpPr>
          <p:cNvPr id="16" name="Text 14"/>
          <p:cNvSpPr txBox="1"/>
          <p:nvPr/>
        </p:nvSpPr>
        <p:spPr>
          <a:xfrm>
            <a:off x="4315968" y="5248656"/>
            <a:ext cx="1517904" cy="34747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photos, private</a:t>
            </a:r>
            <a:endParaRPr lang="en-US" sz="1100" dirty="0"/>
          </a:p>
        </p:txBody>
      </p:sp>
      <p:sp>
        <p:nvSpPr>
          <p:cNvPr id="17" name="Shape 15"/>
          <p:cNvSpPr/>
          <p:nvPr/>
        </p:nvSpPr>
        <p:spPr>
          <a:xfrm>
            <a:off x="6309360" y="4754880"/>
            <a:ext cx="1737360" cy="914400"/>
          </a:xfrm>
          <a:prstGeom prst="rect">
            <a:avLst/>
          </a:prstGeom>
          <a:solidFill>
            <a:srgbClr val="F3F4F6"/>
          </a:solidFill>
          <a:ln w="9525">
            <a:solidFill>
              <a:srgbClr val="B8BEC6"/>
            </a:solidFill>
            <a:prstDash val="solid"/>
          </a:ln>
        </p:spPr>
      </p:sp>
      <p:sp>
        <p:nvSpPr>
          <p:cNvPr id="18" name="Text 16"/>
          <p:cNvSpPr txBox="1"/>
          <p:nvPr/>
        </p:nvSpPr>
        <p:spPr>
          <a:xfrm>
            <a:off x="6419088" y="4846320"/>
            <a:ext cx="1517904" cy="36576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Bedrock</a:t>
            </a:r>
            <a:endParaRPr lang="en-US" sz="1400" dirty="0"/>
          </a:p>
        </p:txBody>
      </p:sp>
      <p:sp>
        <p:nvSpPr>
          <p:cNvPr id="19" name="Text 17"/>
          <p:cNvSpPr txBox="1"/>
          <p:nvPr/>
        </p:nvSpPr>
        <p:spPr>
          <a:xfrm>
            <a:off x="6419088" y="5248656"/>
            <a:ext cx="1517904" cy="34747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category, stamp text</a:t>
            </a:r>
            <a:endParaRPr lang="en-US" sz="1100" dirty="0"/>
          </a:p>
        </p:txBody>
      </p:sp>
      <p:sp>
        <p:nvSpPr>
          <p:cNvPr id="20" name="Shape 18"/>
          <p:cNvSpPr/>
          <p:nvPr/>
        </p:nvSpPr>
        <p:spPr>
          <a:xfrm>
            <a:off x="2194560" y="3154680"/>
            <a:ext cx="822960" cy="0"/>
          </a:xfrm>
          <a:prstGeom prst="line">
            <a:avLst/>
          </a:prstGeom>
          <a:noFill/>
          <a:ln w="15875">
            <a:solidFill>
              <a:srgbClr val="5D636E"/>
            </a:solidFill>
            <a:prstDash val="solid"/>
            <a:tailEnd type="triangle"/>
          </a:ln>
        </p:spPr>
      </p:sp>
      <p:sp>
        <p:nvSpPr>
          <p:cNvPr id="21" name="Shape 19"/>
          <p:cNvSpPr/>
          <p:nvPr/>
        </p:nvSpPr>
        <p:spPr>
          <a:xfrm>
            <a:off x="4389120" y="3154680"/>
            <a:ext cx="548640" cy="0"/>
          </a:xfrm>
          <a:prstGeom prst="line">
            <a:avLst/>
          </a:prstGeom>
          <a:noFill/>
          <a:ln w="15875">
            <a:solidFill>
              <a:srgbClr val="5D636E"/>
            </a:solidFill>
            <a:prstDash val="solid"/>
            <a:tailEnd type="triangle"/>
          </a:ln>
        </p:spPr>
      </p:sp>
      <p:sp>
        <p:nvSpPr>
          <p:cNvPr id="22" name="Shape 20"/>
          <p:cNvSpPr/>
          <p:nvPr/>
        </p:nvSpPr>
        <p:spPr>
          <a:xfrm>
            <a:off x="5303520" y="3657600"/>
            <a:ext cx="0" cy="1097280"/>
          </a:xfrm>
          <a:prstGeom prst="line">
            <a:avLst/>
          </a:prstGeom>
          <a:noFill/>
          <a:ln w="15875">
            <a:solidFill>
              <a:srgbClr val="5D636E"/>
            </a:solidFill>
            <a:prstDash val="solid"/>
            <a:tailEnd type="triangle"/>
          </a:ln>
        </p:spPr>
      </p:sp>
      <p:sp>
        <p:nvSpPr>
          <p:cNvPr id="23" name="Text 21"/>
          <p:cNvSpPr txBox="1"/>
          <p:nvPr/>
        </p:nvSpPr>
        <p:spPr>
          <a:xfrm>
            <a:off x="5394960" y="4087368"/>
            <a:ext cx="1280160" cy="237744"/>
          </a:xfrm>
          <a:prstGeom prst="rect">
            <a:avLst/>
          </a:prstGeom>
          <a:noFill/>
          <a:ln/>
        </p:spPr>
        <p:txBody>
          <a:bodyPr wrap="square" lIns="0" tIns="0" rIns="0" bIns="0" rtlCol="0" anchor="ctr"/>
          <a:lstStyle/>
          <a:p>
            <a:pPr algn="l" indent="0" marL="0">
              <a:lnSpc>
                <a:spcPct val="110000"/>
              </a:lnSpc>
              <a:buNone/>
            </a:pPr>
            <a:r>
              <a:rPr lang="en-US" sz="1100" dirty="0">
                <a:solidFill>
                  <a:srgbClr val="5D636E"/>
                </a:solidFill>
              </a:rPr>
              <a:t>pre-signed links</a:t>
            </a:r>
            <a:endParaRPr lang="en-US" sz="1100" dirty="0"/>
          </a:p>
        </p:txBody>
      </p:sp>
      <p:sp>
        <p:nvSpPr>
          <p:cNvPr id="24" name="Shape 22"/>
          <p:cNvSpPr/>
          <p:nvPr/>
        </p:nvSpPr>
        <p:spPr>
          <a:xfrm>
            <a:off x="7132320" y="3657600"/>
            <a:ext cx="0" cy="1097280"/>
          </a:xfrm>
          <a:prstGeom prst="line">
            <a:avLst/>
          </a:prstGeom>
          <a:noFill/>
          <a:ln w="15875">
            <a:solidFill>
              <a:srgbClr val="5D636E"/>
            </a:solidFill>
            <a:prstDash val="solid"/>
            <a:tailEnd type="triangle"/>
          </a:ln>
        </p:spPr>
      </p:sp>
      <p:sp>
        <p:nvSpPr>
          <p:cNvPr id="25" name="Text 23"/>
          <p:cNvSpPr txBox="1"/>
          <p:nvPr/>
        </p:nvSpPr>
        <p:spPr>
          <a:xfrm>
            <a:off x="7223760" y="4087368"/>
            <a:ext cx="1280160" cy="237744"/>
          </a:xfrm>
          <a:prstGeom prst="rect">
            <a:avLst/>
          </a:prstGeom>
          <a:noFill/>
          <a:ln/>
        </p:spPr>
        <p:txBody>
          <a:bodyPr wrap="square" lIns="0" tIns="0" rIns="0" bIns="0" rtlCol="0" anchor="ctr"/>
          <a:lstStyle/>
          <a:p>
            <a:pPr algn="l" indent="0" marL="0">
              <a:lnSpc>
                <a:spcPct val="110000"/>
              </a:lnSpc>
              <a:buNone/>
            </a:pPr>
            <a:r>
              <a:rPr lang="en-US" sz="1100" dirty="0">
                <a:solidFill>
                  <a:srgbClr val="5D636E"/>
                </a:solidFill>
              </a:rPr>
              <a:t>suggest only</a:t>
            </a:r>
            <a:endParaRPr lang="en-US" sz="1100" dirty="0"/>
          </a:p>
        </p:txBody>
      </p:sp>
      <p:sp>
        <p:nvSpPr>
          <p:cNvPr id="26" name="Shape 24"/>
          <p:cNvSpPr/>
          <p:nvPr/>
        </p:nvSpPr>
        <p:spPr>
          <a:xfrm>
            <a:off x="8755151" y="1600200"/>
            <a:ext cx="0" cy="4297680"/>
          </a:xfrm>
          <a:prstGeom prst="line">
            <a:avLst/>
          </a:prstGeom>
          <a:noFill/>
          <a:ln w="9525">
            <a:solidFill>
              <a:srgbClr val="DADDE1"/>
            </a:solidFill>
            <a:prstDash val="solid"/>
          </a:ln>
        </p:spPr>
      </p:sp>
      <p:sp>
        <p:nvSpPr>
          <p:cNvPr id="27" name="Text 25"/>
          <p:cNvSpPr txBox="1"/>
          <p:nvPr/>
        </p:nvSpPr>
        <p:spPr>
          <a:xfrm>
            <a:off x="9029471" y="1600200"/>
            <a:ext cx="2522144" cy="4480560"/>
          </a:xfrm>
          <a:prstGeom prst="rect">
            <a:avLst/>
          </a:prstGeom>
          <a:noFill/>
          <a:ln/>
        </p:spPr>
        <p:txBody>
          <a:bodyPr wrap="square" lIns="0" tIns="0" rIns="0" bIns="0" rtlCol="0" anchor="t"/>
          <a:lstStyle/>
          <a:p>
            <a:pPr algn="l" marL="228600" indent="-228600">
              <a:lnSpc>
                <a:spcPct val="110000"/>
              </a:lnSpc>
              <a:spcAft>
                <a:spcPts val="1400"/>
              </a:spcAft>
              <a:buSzPct val="100000"/>
              <a:buChar char="•"/>
            </a:pPr>
            <a:r>
              <a:rPr lang="en-US" sz="1400" b="1" dirty="0">
                <a:solidFill>
                  <a:srgbClr val="16181D"/>
                </a:solidFill>
              </a:rPr>
              <a:t>One codebase. </a:t>
            </a:r>
            <a:pPr algn="l" indent="0" marL="0">
              <a:lnSpc>
                <a:spcPct val="110000"/>
              </a:lnSpc>
              <a:buNone/>
            </a:pPr>
            <a:r>
              <a:rPr lang="en-US" sz="1400" dirty="0">
                <a:solidFill>
                  <a:srgbClr val="16181D"/>
                </a:solidFill>
              </a:rPr>
              <a:t>Plain HTML and JS with Leaflet; Capacitor wraps it as the APK.</a:t>
            </a:r>
            <a:endParaRPr lang="en-US" sz="1400" dirty="0"/>
          </a:p>
          <a:p>
            <a:pPr algn="l" marL="228600" indent="-228600">
              <a:lnSpc>
                <a:spcPct val="110000"/>
              </a:lnSpc>
              <a:spcAft>
                <a:spcPts val="1400"/>
              </a:spcAft>
              <a:buSzPct val="100000"/>
              <a:buChar char="•"/>
            </a:pPr>
            <a:r>
              <a:rPr lang="en-US" sz="1400" b="1" dirty="0">
                <a:solidFill>
                  <a:srgbClr val="16181D"/>
                </a:solidFill>
              </a:rPr>
              <a:t>Pure core. </a:t>
            </a:r>
            <a:pPr algn="l" indent="0" marL="0">
              <a:lnSpc>
                <a:spcPct val="110000"/>
              </a:lnSpc>
              <a:buNone/>
            </a:pPr>
            <a:r>
              <a:rPr lang="en-US" sz="1400" dirty="0">
                <a:solidFill>
                  <a:srgbClr val="16181D"/>
                </a:solidFill>
              </a:rPr>
              <a:t>Rules and ranking are tested modules with no I/O.</a:t>
            </a:r>
            <a:endParaRPr lang="en-US" sz="1400" dirty="0"/>
          </a:p>
          <a:p>
            <a:pPr algn="l" marL="228600" indent="-228600">
              <a:lnSpc>
                <a:spcPct val="110000"/>
              </a:lnSpc>
              <a:spcAft>
                <a:spcPts val="1400"/>
              </a:spcAft>
              <a:buSzPct val="100000"/>
              <a:buChar char="•"/>
            </a:pPr>
            <a:r>
              <a:rPr lang="en-US" sz="1400" b="1" dirty="0">
                <a:solidFill>
                  <a:srgbClr val="16181D"/>
                </a:solidFill>
              </a:rPr>
              <a:t>Swappable parts. </a:t>
            </a:r>
            <a:pPr algn="l" indent="0" marL="0">
              <a:lnSpc>
                <a:spcPct val="110000"/>
              </a:lnSpc>
              <a:buNone/>
            </a:pPr>
            <a:r>
              <a:rPr lang="en-US" sz="1400" dirty="0">
                <a:solidFill>
                  <a:srgbClr val="16181D"/>
                </a:solidFill>
              </a:rPr>
              <a:t>Storage, AI and map sit behind ports.</a:t>
            </a:r>
            <a:endParaRPr lang="en-US" sz="1400" dirty="0"/>
          </a:p>
          <a:p>
            <a:pPr algn="l" marL="228600" indent="-228600">
              <a:lnSpc>
                <a:spcPct val="110000"/>
              </a:lnSpc>
              <a:spcAft>
                <a:spcPts val="1400"/>
              </a:spcAft>
              <a:buSzPct val="100000"/>
              <a:buChar char="•"/>
            </a:pPr>
            <a:r>
              <a:rPr lang="en-US" sz="1400" b="1" dirty="0">
                <a:solidFill>
                  <a:srgbClr val="16181D"/>
                </a:solidFill>
              </a:rPr>
              <a:t>Narrow AI. </a:t>
            </a:r>
            <a:pPr algn="l" indent="0" marL="0">
              <a:lnSpc>
                <a:spcPct val="110000"/>
              </a:lnSpc>
              <a:buNone/>
            </a:pPr>
            <a:r>
              <a:rPr lang="en-US" sz="1400" dirty="0">
                <a:solidFill>
                  <a:srgbClr val="16181D"/>
                </a:solidFill>
              </a:rPr>
              <a:t>It never sets rank, owner or status.</a:t>
            </a:r>
            <a:endParaRPr lang="en-US" sz="14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Cloud handling is simple today, with a named path up when load grows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11535" cy="914400"/>
        </p:xfrm>
        <a:graphic>
          <a:graphicData uri="http://schemas.openxmlformats.org/drawingml/2006/table">
            <a:tbl>
              <a:tblPr/>
              <a:tblGrid>
                <a:gridCol w="1737360"/>
                <a:gridCol w="4754880"/>
                <a:gridCol w="4419295"/>
              </a:tblGrid>
              <a:tr h="566928">
                <a:tc>
                  <a:txBody>
                    <a:bodyPr/>
                    <a:lstStyle/>
                    <a:p>
                      <a:pPr indent="0" marL="0">
                        <a:buNone/>
                      </a:pPr>
                      <a:r>
                        <a:rPr lang="en-US" sz="1200" b="1" dirty="0">
                          <a:solidFill>
                            <a:srgbClr val="5D636E"/>
                          </a:solidFill>
                        </a:rPr>
                        <a:t>Concern</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tcPr>
                </a:tc>
                <a:tc>
                  <a:txBody>
                    <a:bodyPr/>
                    <a:lstStyle/>
                    <a:p>
                      <a:pPr indent="0" marL="0">
                        <a:buNone/>
                      </a:pPr>
                      <a:r>
                        <a:rPr lang="en-US" sz="1200" b="1" dirty="0">
                          <a:solidFill>
                            <a:srgbClr val="5D636E"/>
                          </a:solidFill>
                        </a:rPr>
                        <a:t>Today</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tcPr>
                </a:tc>
                <a:tc>
                  <a:txBody>
                    <a:bodyPr/>
                    <a:lstStyle/>
                    <a:p>
                      <a:pPr indent="0" marL="0">
                        <a:buNone/>
                      </a:pPr>
                      <a:r>
                        <a:rPr lang="en-US" sz="1200" b="1" dirty="0">
                          <a:solidFill>
                            <a:srgbClr val="5D636E"/>
                          </a:solidFill>
                        </a:rPr>
                        <a:t>Path up (not built)</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tcPr>
                </a:tc>
              </a:tr>
              <a:tr h="566928">
                <a:tc>
                  <a:txBody>
                    <a:bodyPr/>
                    <a:lstStyle/>
                    <a:p>
                      <a:pPr indent="0" marL="0">
                        <a:buNone/>
                      </a:pPr>
                      <a:r>
                        <a:rPr lang="en-US" sz="1400" b="1" dirty="0">
                          <a:solidFill>
                            <a:srgbClr val="16181D"/>
                          </a:solidFill>
                        </a:rPr>
                        <a:t>Photos</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Private S3 bucket, pre-signed links</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Already scales; no change</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566928">
                <a:tc>
                  <a:txBody>
                    <a:bodyPr/>
                    <a:lstStyle/>
                    <a:p>
                      <a:pPr indent="0" marL="0">
                        <a:buNone/>
                      </a:pPr>
                      <a:r>
                        <a:rPr lang="en-US" sz="1400" b="1" dirty="0">
                          <a:solidFill>
                            <a:srgbClr val="16181D"/>
                          </a:solidFill>
                        </a:rPr>
                        <a:t>Compute</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One EC2 t3.small with Docker Compose and Caddy</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Second instance behind a load balancer</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566928">
                <a:tc>
                  <a:txBody>
                    <a:bodyPr/>
                    <a:lstStyle/>
                    <a:p>
                      <a:pPr indent="0" marL="0">
                        <a:buNone/>
                      </a:pPr>
                      <a:r>
                        <a:rPr lang="en-US" sz="1400" b="1" dirty="0">
                          <a:solidFill>
                            <a:srgbClr val="16181D"/>
                          </a:solidFill>
                        </a:rPr>
                        <a:t>Data</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SQLite file, hourly snapshot to S3, 24 kept</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Managed Postgres when writes outgrow one box</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566928">
                <a:tc>
                  <a:txBody>
                    <a:bodyPr/>
                    <a:lstStyle/>
                    <a:p>
                      <a:pPr indent="0" marL="0">
                        <a:buNone/>
                      </a:pPr>
                      <a:r>
                        <a:rPr lang="en-US" sz="1400" b="1" dirty="0">
                          <a:solidFill>
                            <a:srgbClr val="16181D"/>
                          </a:solidFill>
                        </a:rPr>
                        <a:t>AI</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Bedrock on demand; falls back to the resident's choice</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No servers to size</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566928">
                <a:tc>
                  <a:txBody>
                    <a:bodyPr/>
                    <a:lstStyle/>
                    <a:p>
                      <a:pPr indent="0" marL="0">
                        <a:buNone/>
                      </a:pPr>
                      <a:r>
                        <a:rPr lang="en-US" sz="1400" b="1" dirty="0">
                          <a:solidFill>
                            <a:srgbClr val="16181D"/>
                          </a:solidFill>
                        </a:rPr>
                        <a:t>Release</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Merge to main, tests pass, deploy through SSM</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400" dirty="0">
                          <a:solidFill>
                            <a:srgbClr val="16181D"/>
                          </a:solidFill>
                        </a:rPr>
                        <a:t>Same pipeline for more hosts</a:t>
                      </a:r>
                      <a:endParaRPr lang="en-US" sz="14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bl>
          </a:graphicData>
        </a:graphic>
      </p:graphicFrame>
      <p:sp>
        <p:nvSpPr>
          <p:cNvPr id="4" name="Text 1"/>
          <p:cNvSpPr txBox="1"/>
          <p:nvPr/>
        </p:nvSpPr>
        <p:spPr>
          <a:xfrm>
            <a:off x="640080" y="5303520"/>
            <a:ext cx="10911535" cy="27432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No load test has been run. The first live AWS run is pending.</a:t>
            </a:r>
            <a:endParaRPr lang="en-US" sz="12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Every input traces to a public source, and the gaps are named rather than filled</a:t>
            </a:r>
            <a:endParaRPr lang="en-US" sz="2800" dirty="0"/>
          </a:p>
        </p:txBody>
      </p:sp>
      <p:sp>
        <p:nvSpPr>
          <p:cNvPr id="3" name="Shape 1"/>
          <p:cNvSpPr/>
          <p:nvPr/>
        </p:nvSpPr>
        <p:spPr>
          <a:xfrm>
            <a:off x="640080" y="1600200"/>
            <a:ext cx="1920240" cy="868680"/>
          </a:xfrm>
          <a:prstGeom prst="rect">
            <a:avLst/>
          </a:prstGeom>
          <a:solidFill>
            <a:srgbClr val="F3F4F6"/>
          </a:solidFill>
          <a:ln w="9525">
            <a:solidFill>
              <a:srgbClr val="B8BEC6"/>
            </a:solidFill>
            <a:prstDash val="solid"/>
          </a:ln>
        </p:spPr>
      </p:sp>
      <p:sp>
        <p:nvSpPr>
          <p:cNvPr id="4" name="Text 2"/>
          <p:cNvSpPr txBox="1"/>
          <p:nvPr/>
        </p:nvSpPr>
        <p:spPr>
          <a:xfrm>
            <a:off x="749808" y="1691640"/>
            <a:ext cx="1700784" cy="34290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Public sources</a:t>
            </a:r>
            <a:endParaRPr lang="en-US" sz="1400" dirty="0"/>
          </a:p>
        </p:txBody>
      </p:sp>
      <p:sp>
        <p:nvSpPr>
          <p:cNvPr id="5" name="Text 3"/>
          <p:cNvSpPr txBox="1"/>
          <p:nvPr/>
        </p:nvSpPr>
        <p:spPr>
          <a:xfrm>
            <a:off x="749808" y="2071116"/>
            <a:ext cx="1700784" cy="32461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PWD, OSM, FCO PDF</a:t>
            </a:r>
            <a:endParaRPr lang="en-US" sz="1100" dirty="0"/>
          </a:p>
        </p:txBody>
      </p:sp>
      <p:sp>
        <p:nvSpPr>
          <p:cNvPr id="6" name="Shape 4"/>
          <p:cNvSpPr/>
          <p:nvPr/>
        </p:nvSpPr>
        <p:spPr>
          <a:xfrm>
            <a:off x="2560320" y="2034540"/>
            <a:ext cx="327584" cy="0"/>
          </a:xfrm>
          <a:prstGeom prst="line">
            <a:avLst/>
          </a:prstGeom>
          <a:noFill/>
          <a:ln w="15875">
            <a:solidFill>
              <a:srgbClr val="5D636E"/>
            </a:solidFill>
            <a:prstDash val="solid"/>
            <a:tailEnd type="triangle"/>
          </a:ln>
        </p:spPr>
      </p:sp>
      <p:sp>
        <p:nvSpPr>
          <p:cNvPr id="7" name="Text 5"/>
          <p:cNvSpPr txBox="1"/>
          <p:nvPr/>
        </p:nvSpPr>
        <p:spPr>
          <a:xfrm>
            <a:off x="640080" y="2606040"/>
            <a:ext cx="1920240" cy="91440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PWD road API, 1,297 roads. OSM roads. Flood Control Order, 146 pages.</a:t>
            </a:r>
            <a:endParaRPr lang="en-US" sz="1200" dirty="0"/>
          </a:p>
        </p:txBody>
      </p:sp>
      <p:sp>
        <p:nvSpPr>
          <p:cNvPr id="8" name="Shape 6"/>
          <p:cNvSpPr/>
          <p:nvPr/>
        </p:nvSpPr>
        <p:spPr>
          <a:xfrm>
            <a:off x="2887904" y="1600200"/>
            <a:ext cx="1920240" cy="868680"/>
          </a:xfrm>
          <a:prstGeom prst="rect">
            <a:avLst/>
          </a:prstGeom>
          <a:solidFill>
            <a:srgbClr val="F3F4F6"/>
          </a:solidFill>
          <a:ln w="9525">
            <a:solidFill>
              <a:srgbClr val="B8BEC6"/>
            </a:solidFill>
            <a:prstDash val="solid"/>
          </a:ln>
        </p:spPr>
      </p:sp>
      <p:sp>
        <p:nvSpPr>
          <p:cNvPr id="9" name="Text 7"/>
          <p:cNvSpPr txBox="1"/>
          <p:nvPr/>
        </p:nvSpPr>
        <p:spPr>
          <a:xfrm>
            <a:off x="2997632" y="1691640"/>
            <a:ext cx="1700784" cy="34290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Extract</a:t>
            </a:r>
            <a:endParaRPr lang="en-US" sz="1400" dirty="0"/>
          </a:p>
        </p:txBody>
      </p:sp>
      <p:sp>
        <p:nvSpPr>
          <p:cNvPr id="10" name="Text 8"/>
          <p:cNvSpPr txBox="1"/>
          <p:nvPr/>
        </p:nvSpPr>
        <p:spPr>
          <a:xfrm>
            <a:off x="2997632" y="2071116"/>
            <a:ext cx="1700784" cy="32461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fetch and parse</a:t>
            </a:r>
            <a:endParaRPr lang="en-US" sz="1100" dirty="0"/>
          </a:p>
        </p:txBody>
      </p:sp>
      <p:sp>
        <p:nvSpPr>
          <p:cNvPr id="11" name="Shape 9"/>
          <p:cNvSpPr/>
          <p:nvPr/>
        </p:nvSpPr>
        <p:spPr>
          <a:xfrm>
            <a:off x="4808144" y="2034540"/>
            <a:ext cx="327584" cy="0"/>
          </a:xfrm>
          <a:prstGeom prst="line">
            <a:avLst/>
          </a:prstGeom>
          <a:noFill/>
          <a:ln w="15875">
            <a:solidFill>
              <a:srgbClr val="5D636E"/>
            </a:solidFill>
            <a:prstDash val="solid"/>
            <a:tailEnd type="triangle"/>
          </a:ln>
        </p:spPr>
      </p:sp>
      <p:sp>
        <p:nvSpPr>
          <p:cNvPr id="12" name="Text 10"/>
          <p:cNvSpPr txBox="1"/>
          <p:nvPr/>
        </p:nvSpPr>
        <p:spPr>
          <a:xfrm>
            <a:off x="2887904" y="2606040"/>
            <a:ext cx="1920240" cy="91440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Page the API, parse the PDF tables, drop contact details.</a:t>
            </a:r>
            <a:endParaRPr lang="en-US" sz="1200" dirty="0"/>
          </a:p>
        </p:txBody>
      </p:sp>
      <p:sp>
        <p:nvSpPr>
          <p:cNvPr id="13" name="Shape 11"/>
          <p:cNvSpPr/>
          <p:nvPr/>
        </p:nvSpPr>
        <p:spPr>
          <a:xfrm>
            <a:off x="5135728" y="1600200"/>
            <a:ext cx="1920240" cy="868680"/>
          </a:xfrm>
          <a:prstGeom prst="rect">
            <a:avLst/>
          </a:prstGeom>
          <a:solidFill>
            <a:srgbClr val="D2412B"/>
          </a:solidFill>
          <a:ln/>
        </p:spPr>
      </p:sp>
      <p:sp>
        <p:nvSpPr>
          <p:cNvPr id="14" name="Text 12"/>
          <p:cNvSpPr txBox="1"/>
          <p:nvPr/>
        </p:nvSpPr>
        <p:spPr>
          <a:xfrm>
            <a:off x="5245456" y="1691640"/>
            <a:ext cx="1700784" cy="342900"/>
          </a:xfrm>
          <a:prstGeom prst="rect">
            <a:avLst/>
          </a:prstGeom>
          <a:noFill/>
          <a:ln/>
        </p:spPr>
        <p:txBody>
          <a:bodyPr wrap="square" lIns="0" tIns="0" rIns="0" bIns="0" rtlCol="0" anchor="b"/>
          <a:lstStyle/>
          <a:p>
            <a:pPr algn="ctr" indent="0" marL="0">
              <a:lnSpc>
                <a:spcPct val="100000"/>
              </a:lnSpc>
              <a:buNone/>
            </a:pPr>
            <a:r>
              <a:rPr lang="en-US" sz="1400" b="1" dirty="0">
                <a:solidFill>
                  <a:srgbClr val="FFFFFF"/>
                </a:solidFill>
              </a:rPr>
              <a:t>Curate</a:t>
            </a:r>
            <a:endParaRPr lang="en-US" sz="1400" dirty="0"/>
          </a:p>
        </p:txBody>
      </p:sp>
      <p:sp>
        <p:nvSpPr>
          <p:cNvPr id="15" name="Text 13"/>
          <p:cNvSpPr txBox="1"/>
          <p:nvPr/>
        </p:nvSpPr>
        <p:spPr>
          <a:xfrm>
            <a:off x="5245456" y="2071116"/>
            <a:ext cx="1700784" cy="324612"/>
          </a:xfrm>
          <a:prstGeom prst="rect">
            <a:avLst/>
          </a:prstGeom>
          <a:noFill/>
          <a:ln/>
        </p:spPr>
        <p:txBody>
          <a:bodyPr wrap="square" lIns="0" tIns="0" rIns="0" bIns="0" rtlCol="0" anchor="t"/>
          <a:lstStyle/>
          <a:p>
            <a:pPr algn="ctr" indent="0" marL="0">
              <a:lnSpc>
                <a:spcPct val="100000"/>
              </a:lnSpc>
              <a:buNone/>
            </a:pPr>
            <a:r>
              <a:rPr lang="en-US" sz="1100" dirty="0">
                <a:solidFill>
                  <a:srgbClr val="FFFFFF"/>
                </a:solidFill>
              </a:rPr>
              <a:t>by hand, cited</a:t>
            </a:r>
            <a:endParaRPr lang="en-US" sz="1100" dirty="0"/>
          </a:p>
        </p:txBody>
      </p:sp>
      <p:sp>
        <p:nvSpPr>
          <p:cNvPr id="16" name="Shape 14"/>
          <p:cNvSpPr/>
          <p:nvPr/>
        </p:nvSpPr>
        <p:spPr>
          <a:xfrm>
            <a:off x="7055968" y="2034540"/>
            <a:ext cx="327584" cy="0"/>
          </a:xfrm>
          <a:prstGeom prst="line">
            <a:avLst/>
          </a:prstGeom>
          <a:noFill/>
          <a:ln w="15875">
            <a:solidFill>
              <a:srgbClr val="5D636E"/>
            </a:solidFill>
            <a:prstDash val="solid"/>
            <a:tailEnd type="triangle"/>
          </a:ln>
        </p:spPr>
      </p:sp>
      <p:sp>
        <p:nvSpPr>
          <p:cNvPr id="17" name="Text 15"/>
          <p:cNvSpPr txBox="1"/>
          <p:nvPr/>
        </p:nvSpPr>
        <p:spPr>
          <a:xfrm>
            <a:off x="5135728" y="2606040"/>
            <a:ext cx="1920240" cy="91440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Name each place's OSM feature and PWD road code. Cite a page or id.</a:t>
            </a:r>
            <a:endParaRPr lang="en-US" sz="1200" dirty="0"/>
          </a:p>
        </p:txBody>
      </p:sp>
      <p:sp>
        <p:nvSpPr>
          <p:cNvPr id="18" name="Shape 16"/>
          <p:cNvSpPr/>
          <p:nvPr/>
        </p:nvSpPr>
        <p:spPr>
          <a:xfrm>
            <a:off x="7383551" y="1600200"/>
            <a:ext cx="1920240" cy="868680"/>
          </a:xfrm>
          <a:prstGeom prst="rect">
            <a:avLst/>
          </a:prstGeom>
          <a:solidFill>
            <a:srgbClr val="F3F4F6"/>
          </a:solidFill>
          <a:ln w="9525">
            <a:solidFill>
              <a:srgbClr val="B8BEC6"/>
            </a:solidFill>
            <a:prstDash val="solid"/>
          </a:ln>
        </p:spPr>
      </p:sp>
      <p:sp>
        <p:nvSpPr>
          <p:cNvPr id="19" name="Text 17"/>
          <p:cNvSpPr txBox="1"/>
          <p:nvPr/>
        </p:nvSpPr>
        <p:spPr>
          <a:xfrm>
            <a:off x="7493279" y="1691640"/>
            <a:ext cx="1700784" cy="34290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Consolidate</a:t>
            </a:r>
            <a:endParaRPr lang="en-US" sz="1400" dirty="0"/>
          </a:p>
        </p:txBody>
      </p:sp>
      <p:sp>
        <p:nvSpPr>
          <p:cNvPr id="20" name="Text 18"/>
          <p:cNvSpPr txBox="1"/>
          <p:nvPr/>
        </p:nvSpPr>
        <p:spPr>
          <a:xfrm>
            <a:off x="7493279" y="2071116"/>
            <a:ext cx="1700784" cy="32461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position, owner</a:t>
            </a:r>
            <a:endParaRPr lang="en-US" sz="1100" dirty="0"/>
          </a:p>
        </p:txBody>
      </p:sp>
      <p:sp>
        <p:nvSpPr>
          <p:cNvPr id="21" name="Shape 19"/>
          <p:cNvSpPr/>
          <p:nvPr/>
        </p:nvSpPr>
        <p:spPr>
          <a:xfrm>
            <a:off x="9303791" y="2034540"/>
            <a:ext cx="327584" cy="0"/>
          </a:xfrm>
          <a:prstGeom prst="line">
            <a:avLst/>
          </a:prstGeom>
          <a:noFill/>
          <a:ln w="15875">
            <a:solidFill>
              <a:srgbClr val="5D636E"/>
            </a:solidFill>
            <a:prstDash val="solid"/>
            <a:tailEnd type="triangle"/>
          </a:ln>
        </p:spPr>
      </p:sp>
      <p:sp>
        <p:nvSpPr>
          <p:cNvPr id="22" name="Text 20"/>
          <p:cNvSpPr txBox="1"/>
          <p:nvPr/>
        </p:nvSpPr>
        <p:spPr>
          <a:xfrm>
            <a:off x="7383551" y="2606040"/>
            <a:ext cx="1920240" cy="91440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Position with radius and grade. Owner by the 60 ft Right of Way rule.</a:t>
            </a:r>
            <a:endParaRPr lang="en-US" sz="1200" dirty="0"/>
          </a:p>
        </p:txBody>
      </p:sp>
      <p:sp>
        <p:nvSpPr>
          <p:cNvPr id="23" name="Shape 21"/>
          <p:cNvSpPr/>
          <p:nvPr/>
        </p:nvSpPr>
        <p:spPr>
          <a:xfrm>
            <a:off x="9631375" y="1600200"/>
            <a:ext cx="1920240" cy="868680"/>
          </a:xfrm>
          <a:prstGeom prst="rect">
            <a:avLst/>
          </a:prstGeom>
          <a:solidFill>
            <a:srgbClr val="F3F4F6"/>
          </a:solidFill>
          <a:ln w="9525">
            <a:solidFill>
              <a:srgbClr val="B8BEC6"/>
            </a:solidFill>
            <a:prstDash val="solid"/>
          </a:ln>
        </p:spPr>
      </p:sp>
      <p:sp>
        <p:nvSpPr>
          <p:cNvPr id="24" name="Text 22"/>
          <p:cNvSpPr txBox="1"/>
          <p:nvPr/>
        </p:nvSpPr>
        <p:spPr>
          <a:xfrm>
            <a:off x="9741103" y="1691640"/>
            <a:ext cx="1700784" cy="342900"/>
          </a:xfrm>
          <a:prstGeom prst="rect">
            <a:avLst/>
          </a:prstGeom>
          <a:noFill/>
          <a:ln/>
        </p:spPr>
        <p:txBody>
          <a:bodyPr wrap="square" lIns="0" tIns="0" rIns="0" bIns="0" rtlCol="0" anchor="b"/>
          <a:lstStyle/>
          <a:p>
            <a:pPr algn="ctr" indent="0" marL="0">
              <a:lnSpc>
                <a:spcPct val="100000"/>
              </a:lnSpc>
              <a:buNone/>
            </a:pPr>
            <a:r>
              <a:rPr lang="en-US" sz="1400" b="1" dirty="0">
                <a:solidFill>
                  <a:srgbClr val="16181D"/>
                </a:solidFill>
              </a:rPr>
              <a:t>Seed and report</a:t>
            </a:r>
            <a:endParaRPr lang="en-US" sz="1400" dirty="0"/>
          </a:p>
        </p:txBody>
      </p:sp>
      <p:sp>
        <p:nvSpPr>
          <p:cNvPr id="25" name="Text 23"/>
          <p:cNvSpPr txBox="1"/>
          <p:nvPr/>
        </p:nvSpPr>
        <p:spPr>
          <a:xfrm>
            <a:off x="9741103" y="2071116"/>
            <a:ext cx="1700784" cy="324612"/>
          </a:xfrm>
          <a:prstGeom prst="rect">
            <a:avLst/>
          </a:prstGeom>
          <a:noFill/>
          <a:ln/>
        </p:spPr>
        <p:txBody>
          <a:bodyPr wrap="square" lIns="0" tIns="0" rIns="0" bIns="0" rtlCol="0" anchor="t"/>
          <a:lstStyle/>
          <a:p>
            <a:pPr algn="ctr" indent="0" marL="0">
              <a:lnSpc>
                <a:spcPct val="100000"/>
              </a:lnSpc>
              <a:buNone/>
            </a:pPr>
            <a:r>
              <a:rPr lang="en-US" sz="1100" dirty="0">
                <a:solidFill>
                  <a:srgbClr val="5D636E"/>
                </a:solidFill>
              </a:rPr>
              <a:t>validated</a:t>
            </a:r>
            <a:endParaRPr lang="en-US" sz="1100" dirty="0"/>
          </a:p>
        </p:txBody>
      </p:sp>
      <p:sp>
        <p:nvSpPr>
          <p:cNvPr id="26" name="Text 24"/>
          <p:cNvSpPr txBox="1"/>
          <p:nvPr/>
        </p:nvSpPr>
        <p:spPr>
          <a:xfrm>
            <a:off x="9631375" y="2606040"/>
            <a:ext cx="1920240" cy="91440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9 drains and 6 pockets. A validator rejects uncited or off-map rows.</a:t>
            </a:r>
            <a:endParaRPr lang="en-US" sz="1200" dirty="0"/>
          </a:p>
        </p:txBody>
      </p:sp>
      <p:sp>
        <p:nvSpPr>
          <p:cNvPr id="27" name="Shape 25"/>
          <p:cNvSpPr/>
          <p:nvPr/>
        </p:nvSpPr>
        <p:spPr>
          <a:xfrm>
            <a:off x="640080" y="3749040"/>
            <a:ext cx="10911535" cy="0"/>
          </a:xfrm>
          <a:prstGeom prst="line">
            <a:avLst/>
          </a:prstGeom>
          <a:noFill/>
          <a:ln w="9525">
            <a:solidFill>
              <a:srgbClr val="B8BEC6"/>
            </a:solidFill>
            <a:prstDash val="solid"/>
          </a:ln>
        </p:spPr>
      </p:sp>
      <p:sp>
        <p:nvSpPr>
          <p:cNvPr id="28" name="Text 26"/>
          <p:cNvSpPr txBox="1"/>
          <p:nvPr/>
        </p:nvSpPr>
        <p:spPr>
          <a:xfrm>
            <a:off x="640080" y="3840480"/>
            <a:ext cx="5486400" cy="27432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Not available publicly</a:t>
            </a:r>
            <a:endParaRPr lang="en-US" sz="1200" dirty="0"/>
          </a:p>
        </p:txBody>
      </p:sp>
      <p:sp>
        <p:nvSpPr>
          <p:cNvPr id="29" name="Shape 27"/>
          <p:cNvSpPr/>
          <p:nvPr/>
        </p:nvSpPr>
        <p:spPr>
          <a:xfrm>
            <a:off x="640080" y="4160520"/>
            <a:ext cx="10911535" cy="0"/>
          </a:xfrm>
          <a:prstGeom prst="line">
            <a:avLst/>
          </a:prstGeom>
          <a:noFill/>
          <a:ln w="9525">
            <a:solidFill>
              <a:srgbClr val="DADDE1"/>
            </a:solidFill>
            <a:prstDash val="solid"/>
          </a:ln>
        </p:spPr>
      </p:sp>
      <p:sp>
        <p:nvSpPr>
          <p:cNvPr id="30" name="Text 28"/>
          <p:cNvSpPr txBox="1"/>
          <p:nvPr/>
        </p:nvSpPr>
        <p:spPr>
          <a:xfrm>
            <a:off x="640080" y="4315968"/>
            <a:ext cx="2377440" cy="292608"/>
          </a:xfrm>
          <a:prstGeom prst="rect">
            <a:avLst/>
          </a:prstGeom>
          <a:noFill/>
          <a:ln/>
        </p:spPr>
        <p:txBody>
          <a:bodyPr wrap="square" lIns="0" tIns="0" rIns="0" bIns="0" rtlCol="0" anchor="t"/>
          <a:lstStyle/>
          <a:p>
            <a:pPr algn="l" indent="0" marL="0">
              <a:lnSpc>
                <a:spcPct val="105000"/>
              </a:lnSpc>
              <a:buNone/>
            </a:pPr>
            <a:r>
              <a:rPr lang="en-US" sz="1400" b="1" dirty="0">
                <a:solidFill>
                  <a:srgbClr val="16181D"/>
                </a:solidFill>
              </a:rPr>
              <a:t>No drain network</a:t>
            </a:r>
            <a:endParaRPr lang="en-US" sz="1400" dirty="0"/>
          </a:p>
        </p:txBody>
      </p:sp>
      <p:sp>
        <p:nvSpPr>
          <p:cNvPr id="31" name="Text 29"/>
          <p:cNvSpPr txBox="1"/>
          <p:nvPr/>
        </p:nvSpPr>
        <p:spPr>
          <a:xfrm>
            <a:off x="3200400" y="4315968"/>
            <a:ext cx="8351215" cy="292608"/>
          </a:xfrm>
          <a:prstGeom prst="rect">
            <a:avLst/>
          </a:prstGeom>
          <a:noFill/>
          <a:ln/>
        </p:spPr>
        <p:txBody>
          <a:bodyPr wrap="square" lIns="0" tIns="0" rIns="0" bIns="0" rtlCol="0" anchor="t"/>
          <a:lstStyle/>
          <a:p>
            <a:pPr algn="l" indent="0" marL="0">
              <a:lnSpc>
                <a:spcPct val="112000"/>
              </a:lnSpc>
              <a:buNone/>
            </a:pPr>
            <a:r>
              <a:rPr lang="en-US" sz="1300" dirty="0">
                <a:solidFill>
                  <a:srgbClr val="16181D"/>
                </a:solidFill>
              </a:rPr>
              <a:t>OSM holds 3 unnamed culverts and no roadside drains in the ward</a:t>
            </a:r>
            <a:endParaRPr lang="en-US" sz="1300" dirty="0"/>
          </a:p>
        </p:txBody>
      </p:sp>
      <p:sp>
        <p:nvSpPr>
          <p:cNvPr id="32" name="Shape 30"/>
          <p:cNvSpPr/>
          <p:nvPr/>
        </p:nvSpPr>
        <p:spPr>
          <a:xfrm>
            <a:off x="640080" y="4727448"/>
            <a:ext cx="10911535" cy="0"/>
          </a:xfrm>
          <a:prstGeom prst="line">
            <a:avLst/>
          </a:prstGeom>
          <a:noFill/>
          <a:ln w="9525">
            <a:solidFill>
              <a:srgbClr val="DADDE1"/>
            </a:solidFill>
            <a:prstDash val="solid"/>
          </a:ln>
        </p:spPr>
      </p:sp>
      <p:sp>
        <p:nvSpPr>
          <p:cNvPr id="33" name="Text 31"/>
          <p:cNvSpPr txBox="1"/>
          <p:nvPr/>
        </p:nvSpPr>
        <p:spPr>
          <a:xfrm>
            <a:off x="640080" y="4882896"/>
            <a:ext cx="2377440" cy="292608"/>
          </a:xfrm>
          <a:prstGeom prst="rect">
            <a:avLst/>
          </a:prstGeom>
          <a:noFill/>
          <a:ln/>
        </p:spPr>
        <p:txBody>
          <a:bodyPr wrap="square" lIns="0" tIns="0" rIns="0" bIns="0" rtlCol="0" anchor="t"/>
          <a:lstStyle/>
          <a:p>
            <a:pPr algn="l" indent="0" marL="0">
              <a:lnSpc>
                <a:spcPct val="105000"/>
              </a:lnSpc>
              <a:buNone/>
            </a:pPr>
            <a:r>
              <a:rPr lang="en-US" sz="1400" b="1" dirty="0">
                <a:solidFill>
                  <a:srgbClr val="16181D"/>
                </a:solidFill>
              </a:rPr>
              <a:t>No cleaning record</a:t>
            </a:r>
            <a:endParaRPr lang="en-US" sz="1400" dirty="0"/>
          </a:p>
        </p:txBody>
      </p:sp>
      <p:sp>
        <p:nvSpPr>
          <p:cNvPr id="34" name="Text 32"/>
          <p:cNvSpPr txBox="1"/>
          <p:nvPr/>
        </p:nvSpPr>
        <p:spPr>
          <a:xfrm>
            <a:off x="3200400" y="4882896"/>
            <a:ext cx="8351215" cy="292608"/>
          </a:xfrm>
          <a:prstGeom prst="rect">
            <a:avLst/>
          </a:prstGeom>
          <a:noFill/>
          <a:ln/>
        </p:spPr>
        <p:txBody>
          <a:bodyPr wrap="square" lIns="0" tIns="0" rIns="0" bIns="0" rtlCol="0" anchor="t"/>
          <a:lstStyle/>
          <a:p>
            <a:pPr algn="l" indent="0" marL="0">
              <a:lnSpc>
                <a:spcPct val="112000"/>
              </a:lnSpc>
              <a:buNone/>
            </a:pPr>
            <a:r>
              <a:rPr lang="en-US" sz="1300" dirty="0">
                <a:solidFill>
                  <a:srgbClr val="16181D"/>
                </a:solidFill>
              </a:rPr>
              <a:t>No public last-desilted list, so silt starts as a prior</a:t>
            </a:r>
            <a:endParaRPr lang="en-US" sz="1300" dirty="0"/>
          </a:p>
        </p:txBody>
      </p:sp>
      <p:sp>
        <p:nvSpPr>
          <p:cNvPr id="35" name="Shape 33"/>
          <p:cNvSpPr/>
          <p:nvPr/>
        </p:nvSpPr>
        <p:spPr>
          <a:xfrm>
            <a:off x="640080" y="5294376"/>
            <a:ext cx="10911535" cy="0"/>
          </a:xfrm>
          <a:prstGeom prst="line">
            <a:avLst/>
          </a:prstGeom>
          <a:noFill/>
          <a:ln w="9525">
            <a:solidFill>
              <a:srgbClr val="DADDE1"/>
            </a:solidFill>
            <a:prstDash val="solid"/>
          </a:ln>
        </p:spPr>
      </p:sp>
      <p:sp>
        <p:nvSpPr>
          <p:cNvPr id="36" name="Text 34"/>
          <p:cNvSpPr txBox="1"/>
          <p:nvPr/>
        </p:nvSpPr>
        <p:spPr>
          <a:xfrm>
            <a:off x="640080" y="5449824"/>
            <a:ext cx="2377440" cy="292608"/>
          </a:xfrm>
          <a:prstGeom prst="rect">
            <a:avLst/>
          </a:prstGeom>
          <a:noFill/>
          <a:ln/>
        </p:spPr>
        <p:txBody>
          <a:bodyPr wrap="square" lIns="0" tIns="0" rIns="0" bIns="0" rtlCol="0" anchor="t"/>
          <a:lstStyle/>
          <a:p>
            <a:pPr algn="l" indent="0" marL="0">
              <a:lnSpc>
                <a:spcPct val="105000"/>
              </a:lnSpc>
              <a:buNone/>
            </a:pPr>
            <a:r>
              <a:rPr lang="en-US" sz="1400" b="1" dirty="0">
                <a:solidFill>
                  <a:srgbClr val="16181D"/>
                </a:solidFill>
              </a:rPr>
              <a:t>No pocket points</a:t>
            </a:r>
            <a:endParaRPr lang="en-US" sz="1400" dirty="0"/>
          </a:p>
        </p:txBody>
      </p:sp>
      <p:sp>
        <p:nvSpPr>
          <p:cNvPr id="37" name="Text 35"/>
          <p:cNvSpPr txBox="1"/>
          <p:nvPr/>
        </p:nvSpPr>
        <p:spPr>
          <a:xfrm>
            <a:off x="3200400" y="5449824"/>
            <a:ext cx="8351215" cy="292608"/>
          </a:xfrm>
          <a:prstGeom prst="rect">
            <a:avLst/>
          </a:prstGeom>
          <a:noFill/>
          <a:ln/>
        </p:spPr>
        <p:txBody>
          <a:bodyPr wrap="square" lIns="0" tIns="0" rIns="0" bIns="0" rtlCol="0" anchor="t"/>
          <a:lstStyle/>
          <a:p>
            <a:pPr algn="l" indent="0" marL="0">
              <a:lnSpc>
                <a:spcPct val="112000"/>
              </a:lnSpc>
              <a:buNone/>
            </a:pPr>
            <a:r>
              <a:rPr lang="en-US" sz="1300" dirty="0">
                <a:solidFill>
                  <a:srgbClr val="16181D"/>
                </a:solidFill>
              </a:rPr>
              <a:t>Official lists name places; they give no coordinates</a:t>
            </a:r>
            <a:endParaRPr lang="en-US" sz="1300" dirty="0"/>
          </a:p>
        </p:txBody>
      </p:sp>
      <p:sp>
        <p:nvSpPr>
          <p:cNvPr id="38" name="Shape 36"/>
          <p:cNvSpPr/>
          <p:nvPr/>
        </p:nvSpPr>
        <p:spPr>
          <a:xfrm>
            <a:off x="640080" y="5861304"/>
            <a:ext cx="10911535" cy="0"/>
          </a:xfrm>
          <a:prstGeom prst="line">
            <a:avLst/>
          </a:prstGeom>
          <a:noFill/>
          <a:ln w="9525">
            <a:solidFill>
              <a:srgbClr val="DADDE1"/>
            </a:solidFill>
            <a:prstDash val="solid"/>
          </a:ln>
        </p:spPr>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Cleaning order changes fill time by hours, and public data alone cannot find the low points</a:t>
            </a:r>
            <a:endParaRPr lang="en-US" sz="2800" dirty="0"/>
          </a:p>
        </p:txBody>
      </p:sp>
      <p:graphicFrame>
        <p:nvGraphicFramePr>
          <p:cNvPr id="3" name="Chart 0" descr=""/>
          <p:cNvGraphicFramePr/>
          <p:nvPr/>
        </p:nvGraphicFramePr>
        <p:xfrm>
          <a:off x="640080" y="1600200"/>
          <a:ext cx="6250762"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 y="5029200"/>
            <a:ext cx="6250762" cy="36576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Time to fill at 35 mm/h. Scenario on placeholder seed pockets, not a forecast.</a:t>
            </a:r>
            <a:endParaRPr lang="en-US" sz="1200" dirty="0"/>
          </a:p>
        </p:txBody>
      </p:sp>
      <p:sp>
        <p:nvSpPr>
          <p:cNvPr id="5" name="Shape 2"/>
          <p:cNvSpPr/>
          <p:nvPr/>
        </p:nvSpPr>
        <p:spPr>
          <a:xfrm>
            <a:off x="7822997" y="1600200"/>
            <a:ext cx="0" cy="3566160"/>
          </a:xfrm>
          <a:prstGeom prst="line">
            <a:avLst/>
          </a:prstGeom>
          <a:noFill/>
          <a:ln w="9525">
            <a:solidFill>
              <a:srgbClr val="DADDE1"/>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097317" y="1600200"/>
          <a:ext cx="3454298" cy="914400"/>
        </p:xfrm>
        <a:graphic>
          <a:graphicData uri="http://schemas.openxmlformats.org/drawingml/2006/table">
            <a:tbl>
              <a:tblPr/>
              <a:tblGrid>
                <a:gridCol w="365760"/>
                <a:gridCol w="1554480"/>
                <a:gridCol w="914400"/>
                <a:gridCol w="621792"/>
              </a:tblGrid>
              <a:tr h="502920">
                <a:tc>
                  <a:txBody>
                    <a:bodyPr/>
                    <a:lstStyle/>
                    <a:p>
                      <a:pPr indent="0" marL="0">
                        <a:buNone/>
                      </a:pPr>
                      <a:r>
                        <a:rPr lang="en-US" sz="1000" b="1" dirty="0">
                          <a:solidFill>
                            <a:srgbClr val="5D636E"/>
                          </a:solidFill>
                        </a:rPr>
                        <a:t>#</a:t>
                      </a:r>
                      <a:endParaRPr lang="en-US" sz="10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tcPr>
                </a:tc>
                <a:tc>
                  <a:txBody>
                    <a:bodyPr/>
                    <a:lstStyle/>
                    <a:p>
                      <a:pPr indent="0" marL="0">
                        <a:buNone/>
                      </a:pPr>
                      <a:r>
                        <a:rPr lang="en-US" sz="1000" b="1" dirty="0">
                          <a:solidFill>
                            <a:srgbClr val="5D636E"/>
                          </a:solidFill>
                        </a:rPr>
                        <a:t>Drain</a:t>
                      </a:r>
                      <a:endParaRPr lang="en-US" sz="10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tcPr>
                </a:tc>
                <a:tc>
                  <a:txBody>
                    <a:bodyPr/>
                    <a:lstStyle/>
                    <a:p>
                      <a:pPr indent="0" marL="0">
                        <a:buNone/>
                      </a:pPr>
                      <a:r>
                        <a:rPr lang="en-US" sz="1000" b="1" dirty="0">
                          <a:solidFill>
                            <a:srgbClr val="5D636E"/>
                          </a:solidFill>
                        </a:rPr>
                        <a:t>Owner</a:t>
                      </a:r>
                      <a:endParaRPr lang="en-US" sz="10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solidFill>
                      <a:srgbClr val="E8EAED"/>
                    </a:solidFill>
                  </a:tcPr>
                </a:tc>
                <a:tc>
                  <a:txBody>
                    <a:bodyPr/>
                    <a:lstStyle/>
                    <a:p>
                      <a:pPr indent="0" marL="0">
                        <a:buNone/>
                      </a:pPr>
                      <a:r>
                        <a:rPr lang="en-US" sz="1000" b="1" dirty="0">
                          <a:solidFill>
                            <a:srgbClr val="5D636E"/>
                          </a:solidFill>
                        </a:rPr>
                        <a:t>Hours gained</a:t>
                      </a:r>
                      <a:endParaRPr lang="en-US" sz="1000" dirty="0"/>
                    </a:p>
                  </a:txBody>
                  <a:tcPr marL="109728" marR="109728" marT="0" marB="0" anchor="ctr">
                    <a:lnL w="0" cap="flat" cmpd="sng" algn="ctr">
                      <a:noFill/>
                    </a:lnL>
                    <a:lnR w="0" cap="flat" cmpd="sng" algn="ctr">
                      <a:noFill/>
                    </a:lnR>
                    <a:lnT w="0" cap="flat" cmpd="sng" algn="ctr">
                      <a:noFill/>
                    </a:lnT>
                    <a:lnB w="9525" cap="flat" cmpd="sng" algn="ctr">
                      <a:solidFill>
                        <a:srgbClr val="B8BEC6"/>
                      </a:solidFill>
                      <a:prstDash val="solid"/>
                      <a:round/>
                      <a:headEnd type="none" w="med" len="med"/>
                      <a:tailEnd type="none" w="med" len="med"/>
                    </a:lnB>
                  </a:tcPr>
                </a:tc>
              </a:tr>
              <a:tr h="502920">
                <a:tc>
                  <a:txBody>
                    <a:bodyPr/>
                    <a:lstStyle/>
                    <a:p>
                      <a:pPr indent="0" marL="0">
                        <a:buNone/>
                      </a:pPr>
                      <a:r>
                        <a:rPr lang="en-US" sz="1200" b="1" dirty="0">
                          <a:solidFill>
                            <a:srgbClr val="16181D"/>
                          </a:solidFill>
                        </a:rPr>
                        <a:t>1</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Underpass sump (demo)</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PWD</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solidFill>
                      <a:srgbClr val="E8EAED"/>
                    </a:solidFill>
                  </a:tcPr>
                </a:tc>
                <a:tc>
                  <a:txBody>
                    <a:bodyPr/>
                    <a:lstStyle/>
                    <a:p>
                      <a:pPr indent="0" marL="0">
                        <a:buNone/>
                      </a:pPr>
                      <a:r>
                        <a:rPr lang="en-US" sz="1200" dirty="0">
                          <a:solidFill>
                            <a:srgbClr val="16181D"/>
                          </a:solidFill>
                        </a:rPr>
                        <a:t>5.2</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502920">
                <a:tc>
                  <a:txBody>
                    <a:bodyPr/>
                    <a:lstStyle/>
                    <a:p>
                      <a:pPr indent="0" marL="0">
                        <a:buNone/>
                      </a:pPr>
                      <a:r>
                        <a:rPr lang="en-US" sz="1200" b="1" dirty="0">
                          <a:solidFill>
                            <a:srgbClr val="16181D"/>
                          </a:solidFill>
                        </a:rPr>
                        <a:t>2</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Covered drain, lane 2</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MCD</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solidFill>
                      <a:srgbClr val="E8EAED"/>
                    </a:solidFill>
                  </a:tcPr>
                </a:tc>
                <a:tc>
                  <a:txBody>
                    <a:bodyPr/>
                    <a:lstStyle/>
                    <a:p>
                      <a:pPr indent="0" marL="0">
                        <a:buNone/>
                      </a:pPr>
                      <a:r>
                        <a:rPr lang="en-US" sz="1200" dirty="0">
                          <a:solidFill>
                            <a:srgbClr val="16181D"/>
                          </a:solidFill>
                        </a:rPr>
                        <a:t>2.8</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502920">
                <a:tc>
                  <a:txBody>
                    <a:bodyPr/>
                    <a:lstStyle/>
                    <a:p>
                      <a:pPr indent="0" marL="0">
                        <a:buNone/>
                      </a:pPr>
                      <a:r>
                        <a:rPr lang="en-US" sz="1200" b="1" dirty="0">
                          <a:solidFill>
                            <a:srgbClr val="16181D"/>
                          </a:solidFill>
                        </a:rPr>
                        <a:t>3</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Karol Bagh service drain</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MCD</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solidFill>
                      <a:srgbClr val="E8EAED"/>
                    </a:solidFill>
                  </a:tcPr>
                </a:tc>
                <a:tc>
                  <a:txBody>
                    <a:bodyPr/>
                    <a:lstStyle/>
                    <a:p>
                      <a:pPr indent="0" marL="0">
                        <a:buNone/>
                      </a:pPr>
                      <a:r>
                        <a:rPr lang="en-US" sz="1200" dirty="0">
                          <a:solidFill>
                            <a:srgbClr val="16181D"/>
                          </a:solidFill>
                        </a:rPr>
                        <a:t>1.9</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502920">
                <a:tc>
                  <a:txBody>
                    <a:bodyPr/>
                    <a:lstStyle/>
                    <a:p>
                      <a:pPr indent="0" marL="0">
                        <a:buNone/>
                      </a:pPr>
                      <a:r>
                        <a:rPr lang="en-US" sz="1200" b="1" dirty="0">
                          <a:solidFill>
                            <a:srgbClr val="16181D"/>
                          </a:solidFill>
                        </a:rPr>
                        <a:t>4</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Main road storm drain</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MCD</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solidFill>
                      <a:srgbClr val="E8EAED"/>
                    </a:solidFill>
                  </a:tcPr>
                </a:tc>
                <a:tc>
                  <a:txBody>
                    <a:bodyPr/>
                    <a:lstStyle/>
                    <a:p>
                      <a:pPr indent="0" marL="0">
                        <a:buNone/>
                      </a:pPr>
                      <a:r>
                        <a:rPr lang="en-US" sz="1200" dirty="0">
                          <a:solidFill>
                            <a:srgbClr val="16181D"/>
                          </a:solidFill>
                        </a:rPr>
                        <a:t>1.2</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r h="502920">
                <a:tc>
                  <a:txBody>
                    <a:bodyPr/>
                    <a:lstStyle/>
                    <a:p>
                      <a:pPr indent="0" marL="0">
                        <a:buNone/>
                      </a:pPr>
                      <a:r>
                        <a:rPr lang="en-US" sz="1200" b="1" dirty="0">
                          <a:solidFill>
                            <a:srgbClr val="16181D"/>
                          </a:solidFill>
                        </a:rPr>
                        <a:t>5</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Inlet outside library block</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c>
                  <a:txBody>
                    <a:bodyPr/>
                    <a:lstStyle/>
                    <a:p>
                      <a:pPr indent="0" marL="0">
                        <a:buNone/>
                      </a:pPr>
                      <a:r>
                        <a:rPr lang="en-US" sz="1200" dirty="0">
                          <a:solidFill>
                            <a:srgbClr val="16181D"/>
                          </a:solidFill>
                        </a:rPr>
                        <a:t>No owner found</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solidFill>
                      <a:srgbClr val="E8EAED"/>
                    </a:solidFill>
                  </a:tcPr>
                </a:tc>
                <a:tc>
                  <a:txBody>
                    <a:bodyPr/>
                    <a:lstStyle/>
                    <a:p>
                      <a:pPr indent="0" marL="0">
                        <a:buNone/>
                      </a:pPr>
                      <a:r>
                        <a:rPr lang="en-US" sz="1200" dirty="0">
                          <a:solidFill>
                            <a:srgbClr val="16181D"/>
                          </a:solidFill>
                        </a:rPr>
                        <a:t>1.2</a:t>
                      </a:r>
                      <a:endParaRPr lang="en-US" sz="1200" dirty="0"/>
                    </a:p>
                  </a:txBody>
                  <a:tcPr marL="109728" marR="109728" marT="0" marB="0" anchor="ctr">
                    <a:lnL w="0" cap="flat" cmpd="sng" algn="ctr">
                      <a:noFill/>
                    </a:lnL>
                    <a:lnR w="0" cap="flat" cmpd="sng" algn="ctr">
                      <a:noFill/>
                    </a:lnR>
                    <a:lnT w="0" cap="flat" cmpd="sng" algn="ctr">
                      <a:noFill/>
                    </a:lnT>
                    <a:lnB w="9525" cap="flat" cmpd="sng" algn="ctr">
                      <a:solidFill>
                        <a:srgbClr val="DADDE1"/>
                      </a:solidFill>
                      <a:prstDash val="solid"/>
                      <a:round/>
                      <a:headEnd type="none" w="med" len="med"/>
                      <a:tailEnd type="none" w="med" len="med"/>
                    </a:lnB>
                  </a:tcPr>
                </a:tc>
              </a:tr>
            </a:tbl>
          </a:graphicData>
        </a:graphic>
      </p:graphicFrame>
      <p:sp>
        <p:nvSpPr>
          <p:cNvPr id="7" name="Shape 3"/>
          <p:cNvSpPr/>
          <p:nvPr/>
        </p:nvSpPr>
        <p:spPr>
          <a:xfrm>
            <a:off x="640080" y="5486400"/>
            <a:ext cx="10911535" cy="640080"/>
          </a:xfrm>
          <a:prstGeom prst="rect">
            <a:avLst/>
          </a:prstGeom>
          <a:solidFill>
            <a:srgbClr val="E8EAED"/>
          </a:solidFill>
          <a:ln/>
        </p:spPr>
      </p:sp>
      <p:sp>
        <p:nvSpPr>
          <p:cNvPr id="8" name="Text 4"/>
          <p:cNvSpPr txBox="1"/>
          <p:nvPr/>
        </p:nvSpPr>
        <p:spPr>
          <a:xfrm>
            <a:off x="914400" y="5486400"/>
            <a:ext cx="10362895" cy="640080"/>
          </a:xfrm>
          <a:prstGeom prst="rect">
            <a:avLst/>
          </a:prstGeom>
          <a:noFill/>
          <a:ln/>
        </p:spPr>
        <p:txBody>
          <a:bodyPr wrap="square" lIns="0" tIns="0" rIns="0" bIns="0" rtlCol="0" anchor="ctr"/>
          <a:lstStyle/>
          <a:p>
            <a:pPr algn="l" indent="0" marL="0">
              <a:lnSpc>
                <a:spcPct val="110000"/>
              </a:lnSpc>
              <a:buNone/>
            </a:pPr>
            <a:r>
              <a:rPr lang="en-US" sz="1600" b="1" dirty="0">
                <a:solidFill>
                  <a:srgbClr val="16181D"/>
                </a:solidFill>
              </a:rPr>
              <a:t>Public data cannot locate the low points. Resident reports can.</a:t>
            </a:r>
            <a:endParaRPr lang="en-US" sz="16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Each stakeholder uses the same list differently, and each gets something back</a:t>
            </a:r>
            <a:endParaRPr lang="en-US" sz="2800" dirty="0"/>
          </a:p>
        </p:txBody>
      </p:sp>
      <p:sp>
        <p:nvSpPr>
          <p:cNvPr id="3" name="Shape 1"/>
          <p:cNvSpPr/>
          <p:nvPr/>
        </p:nvSpPr>
        <p:spPr>
          <a:xfrm>
            <a:off x="640080" y="1600200"/>
            <a:ext cx="10911535" cy="0"/>
          </a:xfrm>
          <a:prstGeom prst="line">
            <a:avLst/>
          </a:prstGeom>
          <a:noFill/>
          <a:ln w="9525">
            <a:solidFill>
              <a:srgbClr val="DADDE1"/>
            </a:solidFill>
            <a:prstDash val="solid"/>
          </a:ln>
        </p:spPr>
      </p:sp>
      <p:sp>
        <p:nvSpPr>
          <p:cNvPr id="4" name="Text 2"/>
          <p:cNvSpPr txBox="1"/>
          <p:nvPr/>
        </p:nvSpPr>
        <p:spPr>
          <a:xfrm>
            <a:off x="640080" y="1755648"/>
            <a:ext cx="2377440" cy="50292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Resident</a:t>
            </a:r>
            <a:endParaRPr lang="en-US" sz="1600" dirty="0"/>
          </a:p>
        </p:txBody>
      </p:sp>
      <p:sp>
        <p:nvSpPr>
          <p:cNvPr id="5" name="Text 3"/>
          <p:cNvSpPr txBox="1"/>
          <p:nvPr/>
        </p:nvSpPr>
        <p:spPr>
          <a:xfrm>
            <a:off x="3200400" y="1755648"/>
            <a:ext cx="8351215" cy="50292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Reports with a photo and confirms work. Sees who took it and whether it was done.</a:t>
            </a:r>
            <a:endParaRPr lang="en-US" sz="1500" dirty="0"/>
          </a:p>
        </p:txBody>
      </p:sp>
      <p:sp>
        <p:nvSpPr>
          <p:cNvPr id="6" name="Shape 4"/>
          <p:cNvSpPr/>
          <p:nvPr/>
        </p:nvSpPr>
        <p:spPr>
          <a:xfrm>
            <a:off x="640080" y="2377440"/>
            <a:ext cx="10911535" cy="0"/>
          </a:xfrm>
          <a:prstGeom prst="line">
            <a:avLst/>
          </a:prstGeom>
          <a:noFill/>
          <a:ln w="9525">
            <a:solidFill>
              <a:srgbClr val="DADDE1"/>
            </a:solidFill>
            <a:prstDash val="solid"/>
          </a:ln>
        </p:spPr>
      </p:sp>
      <p:sp>
        <p:nvSpPr>
          <p:cNvPr id="7" name="Text 5"/>
          <p:cNvSpPr txBox="1"/>
          <p:nvPr/>
        </p:nvSpPr>
        <p:spPr>
          <a:xfrm>
            <a:off x="640080" y="2532888"/>
            <a:ext cx="2377440" cy="50292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Agency official</a:t>
            </a:r>
            <a:endParaRPr lang="en-US" sz="1600" dirty="0"/>
          </a:p>
        </p:txBody>
      </p:sp>
      <p:sp>
        <p:nvSpPr>
          <p:cNvPr id="8" name="Text 6"/>
          <p:cNvSpPr txBox="1"/>
          <p:nvPr/>
        </p:nvSpPr>
        <p:spPr>
          <a:xfrm>
            <a:off x="3200400" y="2532888"/>
            <a:ext cx="8351215" cy="50292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Works a ranked inbox of own tasks. Gets proof of work and a clear way to bounce.</a:t>
            </a:r>
            <a:endParaRPr lang="en-US" sz="1500" dirty="0"/>
          </a:p>
        </p:txBody>
      </p:sp>
      <p:sp>
        <p:nvSpPr>
          <p:cNvPr id="9" name="Shape 7"/>
          <p:cNvSpPr/>
          <p:nvPr/>
        </p:nvSpPr>
        <p:spPr>
          <a:xfrm>
            <a:off x="640080" y="3154680"/>
            <a:ext cx="10911535" cy="0"/>
          </a:xfrm>
          <a:prstGeom prst="line">
            <a:avLst/>
          </a:prstGeom>
          <a:noFill/>
          <a:ln w="9525">
            <a:solidFill>
              <a:srgbClr val="DADDE1"/>
            </a:solidFill>
            <a:prstDash val="solid"/>
          </a:ln>
        </p:spPr>
      </p:sp>
      <p:sp>
        <p:nvSpPr>
          <p:cNvPr id="10" name="Text 8"/>
          <p:cNvSpPr txBox="1"/>
          <p:nvPr/>
        </p:nvSpPr>
        <p:spPr>
          <a:xfrm>
            <a:off x="640080" y="3310128"/>
            <a:ext cx="2377440" cy="50292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Ward coordinator</a:t>
            </a:r>
            <a:endParaRPr lang="en-US" sz="1600" dirty="0"/>
          </a:p>
        </p:txBody>
      </p:sp>
      <p:sp>
        <p:nvSpPr>
          <p:cNvPr id="11" name="Text 9"/>
          <p:cNvSpPr txBox="1"/>
          <p:nvPr/>
        </p:nvSpPr>
        <p:spPr>
          <a:xfrm>
            <a:off x="3200400" y="3310128"/>
            <a:ext cx="8351215" cy="50292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Assigns unowned tasks and generates the plan. Gets one list across agencies.</a:t>
            </a:r>
            <a:endParaRPr lang="en-US" sz="1500" dirty="0"/>
          </a:p>
        </p:txBody>
      </p:sp>
      <p:sp>
        <p:nvSpPr>
          <p:cNvPr id="12" name="Shape 10"/>
          <p:cNvSpPr/>
          <p:nvPr/>
        </p:nvSpPr>
        <p:spPr>
          <a:xfrm>
            <a:off x="640080" y="3931920"/>
            <a:ext cx="10911535" cy="0"/>
          </a:xfrm>
          <a:prstGeom prst="line">
            <a:avLst/>
          </a:prstGeom>
          <a:noFill/>
          <a:ln w="9525">
            <a:solidFill>
              <a:srgbClr val="DADDE1"/>
            </a:solidFill>
            <a:prstDash val="solid"/>
          </a:ln>
        </p:spPr>
      </p:sp>
      <p:sp>
        <p:nvSpPr>
          <p:cNvPr id="13" name="Text 11"/>
          <p:cNvSpPr txBox="1"/>
          <p:nvPr/>
        </p:nvSpPr>
        <p:spPr>
          <a:xfrm>
            <a:off x="640080" y="4087368"/>
            <a:ext cx="2377440" cy="50292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Housing society</a:t>
            </a:r>
            <a:endParaRPr lang="en-US" sz="1600" dirty="0"/>
          </a:p>
        </p:txBody>
      </p:sp>
      <p:sp>
        <p:nvSpPr>
          <p:cNvPr id="14" name="Text 12"/>
          <p:cNvSpPr txBox="1"/>
          <p:nvPr/>
        </p:nvSpPr>
        <p:spPr>
          <a:xfrm>
            <a:off x="3200400" y="4087368"/>
            <a:ext cx="8351215" cy="50292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Checks a roof's capture decision with the rule shown. Experimental.</a:t>
            </a:r>
            <a:endParaRPr lang="en-US" sz="1500" dirty="0"/>
          </a:p>
        </p:txBody>
      </p:sp>
      <p:sp>
        <p:nvSpPr>
          <p:cNvPr id="15" name="Shape 13"/>
          <p:cNvSpPr/>
          <p:nvPr/>
        </p:nvSpPr>
        <p:spPr>
          <a:xfrm>
            <a:off x="640080" y="4709160"/>
            <a:ext cx="10911535" cy="0"/>
          </a:xfrm>
          <a:prstGeom prst="line">
            <a:avLst/>
          </a:prstGeom>
          <a:noFill/>
          <a:ln w="9525">
            <a:solidFill>
              <a:srgbClr val="DADDE1"/>
            </a:solidFill>
            <a:prstDash val="solid"/>
          </a:ln>
        </p:spPr>
      </p:sp>
      <p:sp>
        <p:nvSpPr>
          <p:cNvPr id="16" name="Text 14"/>
          <p:cNvSpPr txBox="1"/>
          <p:nvPr/>
        </p:nvSpPr>
        <p:spPr>
          <a:xfrm>
            <a:off x="640080" y="4864608"/>
            <a:ext cx="2377440" cy="50292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Public and press</a:t>
            </a:r>
            <a:endParaRPr lang="en-US" sz="1600" dirty="0"/>
          </a:p>
        </p:txBody>
      </p:sp>
      <p:sp>
        <p:nvSpPr>
          <p:cNvPr id="17" name="Text 15"/>
          <p:cNvSpPr txBox="1"/>
          <p:nvPr/>
        </p:nvSpPr>
        <p:spPr>
          <a:xfrm>
            <a:off x="3200400" y="4864608"/>
            <a:ext cx="8351215" cy="50292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Reads the accountability chart without login. Gets who holds what, and for how long.</a:t>
            </a:r>
            <a:endParaRPr lang="en-US" sz="1500" dirty="0"/>
          </a:p>
        </p:txBody>
      </p:sp>
      <p:sp>
        <p:nvSpPr>
          <p:cNvPr id="18" name="Shape 16"/>
          <p:cNvSpPr/>
          <p:nvPr/>
        </p:nvSpPr>
        <p:spPr>
          <a:xfrm>
            <a:off x="640080" y="5486400"/>
            <a:ext cx="10911535" cy="0"/>
          </a:xfrm>
          <a:prstGeom prst="line">
            <a:avLst/>
          </a:prstGeom>
          <a:noFill/>
          <a:ln w="9525">
            <a:solidFill>
              <a:srgbClr val="DADDE1"/>
            </a:solidFill>
            <a:prstDash val="solid"/>
          </a:ln>
        </p:spPr>
      </p:sp>
      <p:sp>
        <p:nvSpPr>
          <p:cNvPr id="19" name="Text 17"/>
          <p:cNvSpPr txBox="1"/>
          <p:nvPr/>
        </p:nvSpPr>
        <p:spPr>
          <a:xfrm>
            <a:off x="640080" y="5577840"/>
            <a:ext cx="7315200" cy="27432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Agency level only. No officer is named.</a:t>
            </a:r>
            <a:endParaRPr lang="en-US" sz="12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The pilot measures behaviour: who acts, who passes it on and who checks</a:t>
            </a:r>
            <a:endParaRPr lang="en-US" sz="2800" dirty="0"/>
          </a:p>
        </p:txBody>
      </p:sp>
      <p:sp>
        <p:nvSpPr>
          <p:cNvPr id="3" name="Shape 1"/>
          <p:cNvSpPr/>
          <p:nvPr/>
        </p:nvSpPr>
        <p:spPr>
          <a:xfrm>
            <a:off x="640080" y="1600200"/>
            <a:ext cx="6250762" cy="0"/>
          </a:xfrm>
          <a:prstGeom prst="line">
            <a:avLst/>
          </a:prstGeom>
          <a:noFill/>
          <a:ln w="9525">
            <a:solidFill>
              <a:srgbClr val="DADDE1"/>
            </a:solidFill>
            <a:prstDash val="solid"/>
          </a:ln>
        </p:spPr>
      </p:sp>
      <p:sp>
        <p:nvSpPr>
          <p:cNvPr id="4" name="Text 2"/>
          <p:cNvSpPr txBox="1"/>
          <p:nvPr/>
        </p:nvSpPr>
        <p:spPr>
          <a:xfrm>
            <a:off x="640080" y="1755648"/>
            <a:ext cx="1920240" cy="73152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Bounces</a:t>
            </a:r>
            <a:endParaRPr lang="en-US" sz="1600" dirty="0"/>
          </a:p>
        </p:txBody>
      </p:sp>
      <p:sp>
        <p:nvSpPr>
          <p:cNvPr id="5" name="Text 3"/>
          <p:cNvSpPr txBox="1"/>
          <p:nvPr/>
        </p:nvSpPr>
        <p:spPr>
          <a:xfrm>
            <a:off x="2743200" y="1755648"/>
            <a:ext cx="4147642" cy="73152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Tasks passed on as Not ours, per agency</a:t>
            </a:r>
            <a:endParaRPr lang="en-US" sz="1500" dirty="0"/>
          </a:p>
        </p:txBody>
      </p:sp>
      <p:sp>
        <p:nvSpPr>
          <p:cNvPr id="6" name="Shape 4"/>
          <p:cNvSpPr/>
          <p:nvPr/>
        </p:nvSpPr>
        <p:spPr>
          <a:xfrm>
            <a:off x="640080" y="2606040"/>
            <a:ext cx="6250762" cy="0"/>
          </a:xfrm>
          <a:prstGeom prst="line">
            <a:avLst/>
          </a:prstGeom>
          <a:noFill/>
          <a:ln w="9525">
            <a:solidFill>
              <a:srgbClr val="DADDE1"/>
            </a:solidFill>
            <a:prstDash val="solid"/>
          </a:ln>
        </p:spPr>
      </p:sp>
      <p:sp>
        <p:nvSpPr>
          <p:cNvPr id="7" name="Text 5"/>
          <p:cNvSpPr txBox="1"/>
          <p:nvPr/>
        </p:nvSpPr>
        <p:spPr>
          <a:xfrm>
            <a:off x="640080" y="2761488"/>
            <a:ext cx="1920240" cy="73152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Overdue</a:t>
            </a:r>
            <a:endParaRPr lang="en-US" sz="1600" dirty="0"/>
          </a:p>
        </p:txBody>
      </p:sp>
      <p:sp>
        <p:nvSpPr>
          <p:cNvPr id="8" name="Text 6"/>
          <p:cNvSpPr txBox="1"/>
          <p:nvPr/>
        </p:nvSpPr>
        <p:spPr>
          <a:xfrm>
            <a:off x="2743200" y="2761488"/>
            <a:ext cx="4147642" cy="73152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Tasks past their due date, per agency</a:t>
            </a:r>
            <a:endParaRPr lang="en-US" sz="1500" dirty="0"/>
          </a:p>
        </p:txBody>
      </p:sp>
      <p:sp>
        <p:nvSpPr>
          <p:cNvPr id="9" name="Shape 7"/>
          <p:cNvSpPr/>
          <p:nvPr/>
        </p:nvSpPr>
        <p:spPr>
          <a:xfrm>
            <a:off x="640080" y="3611880"/>
            <a:ext cx="6250762" cy="0"/>
          </a:xfrm>
          <a:prstGeom prst="line">
            <a:avLst/>
          </a:prstGeom>
          <a:noFill/>
          <a:ln w="9525">
            <a:solidFill>
              <a:srgbClr val="DADDE1"/>
            </a:solidFill>
            <a:prstDash val="solid"/>
          </a:ln>
        </p:spPr>
      </p:sp>
      <p:sp>
        <p:nvSpPr>
          <p:cNvPr id="10" name="Text 8"/>
          <p:cNvSpPr txBox="1"/>
          <p:nvPr/>
        </p:nvSpPr>
        <p:spPr>
          <a:xfrm>
            <a:off x="640080" y="3767328"/>
            <a:ext cx="1920240" cy="73152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Confirm or dispute</a:t>
            </a:r>
            <a:endParaRPr lang="en-US" sz="1600" dirty="0"/>
          </a:p>
        </p:txBody>
      </p:sp>
      <p:sp>
        <p:nvSpPr>
          <p:cNvPr id="11" name="Text 9"/>
          <p:cNvSpPr txBox="1"/>
          <p:nvPr/>
        </p:nvSpPr>
        <p:spPr>
          <a:xfrm>
            <a:off x="2743200" y="3767328"/>
            <a:ext cx="4147642" cy="73152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Whether a second resident backs the work</a:t>
            </a:r>
            <a:endParaRPr lang="en-US" sz="1500" dirty="0"/>
          </a:p>
        </p:txBody>
      </p:sp>
      <p:sp>
        <p:nvSpPr>
          <p:cNvPr id="12" name="Shape 10"/>
          <p:cNvSpPr/>
          <p:nvPr/>
        </p:nvSpPr>
        <p:spPr>
          <a:xfrm>
            <a:off x="640080" y="4617720"/>
            <a:ext cx="6250762" cy="0"/>
          </a:xfrm>
          <a:prstGeom prst="line">
            <a:avLst/>
          </a:prstGeom>
          <a:noFill/>
          <a:ln w="9525">
            <a:solidFill>
              <a:srgbClr val="DADDE1"/>
            </a:solidFill>
            <a:prstDash val="solid"/>
          </a:ln>
        </p:spPr>
      </p:sp>
      <p:sp>
        <p:nvSpPr>
          <p:cNvPr id="13" name="Text 11"/>
          <p:cNvSpPr txBox="1"/>
          <p:nvPr/>
        </p:nvSpPr>
        <p:spPr>
          <a:xfrm>
            <a:off x="640080" y="4773168"/>
            <a:ext cx="1920240" cy="73152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Held for review</a:t>
            </a:r>
            <a:endParaRPr lang="en-US" sz="1600" dirty="0"/>
          </a:p>
        </p:txBody>
      </p:sp>
      <p:sp>
        <p:nvSpPr>
          <p:cNvPr id="14" name="Text 12"/>
          <p:cNvSpPr txBox="1"/>
          <p:nvPr/>
        </p:nvSpPr>
        <p:spPr>
          <a:xfrm>
            <a:off x="2743200" y="4773168"/>
            <a:ext cx="4147642" cy="73152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Reports flagged by the photo, place and time checks</a:t>
            </a:r>
            <a:endParaRPr lang="en-US" sz="1500" dirty="0"/>
          </a:p>
        </p:txBody>
      </p:sp>
      <p:sp>
        <p:nvSpPr>
          <p:cNvPr id="15" name="Shape 13"/>
          <p:cNvSpPr/>
          <p:nvPr/>
        </p:nvSpPr>
        <p:spPr>
          <a:xfrm>
            <a:off x="640080" y="5623560"/>
            <a:ext cx="6250762" cy="0"/>
          </a:xfrm>
          <a:prstGeom prst="line">
            <a:avLst/>
          </a:prstGeom>
          <a:noFill/>
          <a:ln w="9525">
            <a:solidFill>
              <a:srgbClr val="DADDE1"/>
            </a:solidFill>
            <a:prstDash val="solid"/>
          </a:ln>
        </p:spPr>
      </p:sp>
      <p:sp>
        <p:nvSpPr>
          <p:cNvPr id="16" name="Shape 14"/>
          <p:cNvSpPr/>
          <p:nvPr/>
        </p:nvSpPr>
        <p:spPr>
          <a:xfrm>
            <a:off x="7822997" y="1600200"/>
            <a:ext cx="0" cy="4023360"/>
          </a:xfrm>
          <a:prstGeom prst="line">
            <a:avLst/>
          </a:prstGeom>
          <a:noFill/>
          <a:ln w="9525">
            <a:solidFill>
              <a:srgbClr val="DADDE1"/>
            </a:solidFill>
            <a:prstDash val="solid"/>
          </a:ln>
        </p:spPr>
      </p:sp>
      <p:sp>
        <p:nvSpPr>
          <p:cNvPr id="17" name="Text 15"/>
          <p:cNvSpPr txBox="1"/>
          <p:nvPr/>
        </p:nvSpPr>
        <p:spPr>
          <a:xfrm>
            <a:off x="8097317" y="1600200"/>
            <a:ext cx="3454298" cy="45720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Adoption targets, first pilot cycle (proposed)</a:t>
            </a:r>
            <a:endParaRPr lang="en-US" sz="1200" dirty="0"/>
          </a:p>
        </p:txBody>
      </p:sp>
      <p:sp>
        <p:nvSpPr>
          <p:cNvPr id="18" name="Text 16"/>
          <p:cNvSpPr txBox="1"/>
          <p:nvPr/>
        </p:nvSpPr>
        <p:spPr>
          <a:xfrm>
            <a:off x="8097317" y="2148840"/>
            <a:ext cx="3454298" cy="713232"/>
          </a:xfrm>
          <a:prstGeom prst="rect">
            <a:avLst/>
          </a:prstGeom>
          <a:noFill/>
          <a:ln/>
        </p:spPr>
        <p:txBody>
          <a:bodyPr wrap="square" lIns="0" tIns="0" rIns="0" bIns="0" rtlCol="0" anchor="t"/>
          <a:lstStyle/>
          <a:p>
            <a:pPr algn="l" indent="0" marL="0">
              <a:lnSpc>
                <a:spcPct val="100000"/>
              </a:lnSpc>
              <a:buNone/>
            </a:pPr>
            <a:r>
              <a:rPr lang="en-US" sz="4400" b="1" dirty="0">
                <a:solidFill>
                  <a:srgbClr val="16181D"/>
                </a:solidFill>
              </a:rPr>
              <a:t>3 of 4</a:t>
            </a:r>
            <a:endParaRPr lang="en-US" sz="4400" dirty="0"/>
          </a:p>
        </p:txBody>
      </p:sp>
      <p:sp>
        <p:nvSpPr>
          <p:cNvPr id="19" name="Text 17"/>
          <p:cNvSpPr txBox="1"/>
          <p:nvPr/>
        </p:nvSpPr>
        <p:spPr>
          <a:xfrm>
            <a:off x="8097317" y="2825496"/>
            <a:ext cx="3454298" cy="274320"/>
          </a:xfrm>
          <a:prstGeom prst="rect">
            <a:avLst/>
          </a:prstGeom>
          <a:noFill/>
          <a:ln/>
        </p:spPr>
        <p:txBody>
          <a:bodyPr wrap="square" lIns="0" tIns="0" rIns="0" bIns="0" rtlCol="0" anchor="t"/>
          <a:lstStyle/>
          <a:p>
            <a:pPr algn="l" indent="0" marL="0">
              <a:lnSpc>
                <a:spcPct val="110000"/>
              </a:lnSpc>
              <a:buNone/>
            </a:pPr>
            <a:r>
              <a:rPr lang="en-US" sz="1400" b="1" dirty="0">
                <a:solidFill>
                  <a:srgbClr val="16181D"/>
                </a:solidFill>
              </a:rPr>
              <a:t>agencies act on tasks</a:t>
            </a:r>
            <a:endParaRPr lang="en-US" sz="1400" dirty="0"/>
          </a:p>
        </p:txBody>
      </p:sp>
      <p:sp>
        <p:nvSpPr>
          <p:cNvPr id="20" name="Text 18"/>
          <p:cNvSpPr txBox="1"/>
          <p:nvPr/>
        </p:nvSpPr>
        <p:spPr>
          <a:xfrm>
            <a:off x="8097317" y="3118104"/>
            <a:ext cx="3454298" cy="36576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Accept, bounce or complete</a:t>
            </a:r>
            <a:endParaRPr lang="en-US" sz="1200" dirty="0"/>
          </a:p>
        </p:txBody>
      </p:sp>
      <p:sp>
        <p:nvSpPr>
          <p:cNvPr id="21" name="Text 19"/>
          <p:cNvSpPr txBox="1"/>
          <p:nvPr/>
        </p:nvSpPr>
        <p:spPr>
          <a:xfrm>
            <a:off x="8097317" y="3520440"/>
            <a:ext cx="3454298" cy="713232"/>
          </a:xfrm>
          <a:prstGeom prst="rect">
            <a:avLst/>
          </a:prstGeom>
          <a:noFill/>
          <a:ln/>
        </p:spPr>
        <p:txBody>
          <a:bodyPr wrap="square" lIns="0" tIns="0" rIns="0" bIns="0" rtlCol="0" anchor="t"/>
          <a:lstStyle/>
          <a:p>
            <a:pPr algn="l" indent="0" marL="0">
              <a:lnSpc>
                <a:spcPct val="100000"/>
              </a:lnSpc>
              <a:buNone/>
            </a:pPr>
            <a:r>
              <a:rPr lang="en-US" sz="4400" b="1" dirty="0">
                <a:solidFill>
                  <a:srgbClr val="D2412B"/>
                </a:solidFill>
              </a:rPr>
              <a:t>60%</a:t>
            </a:r>
            <a:endParaRPr lang="en-US" sz="4400" dirty="0"/>
          </a:p>
        </p:txBody>
      </p:sp>
      <p:sp>
        <p:nvSpPr>
          <p:cNvPr id="22" name="Text 20"/>
          <p:cNvSpPr txBox="1"/>
          <p:nvPr/>
        </p:nvSpPr>
        <p:spPr>
          <a:xfrm>
            <a:off x="8097317" y="4197096"/>
            <a:ext cx="3454298" cy="274320"/>
          </a:xfrm>
          <a:prstGeom prst="rect">
            <a:avLst/>
          </a:prstGeom>
          <a:noFill/>
          <a:ln/>
        </p:spPr>
        <p:txBody>
          <a:bodyPr wrap="square" lIns="0" tIns="0" rIns="0" bIns="0" rtlCol="0" anchor="t"/>
          <a:lstStyle/>
          <a:p>
            <a:pPr algn="l" indent="0" marL="0">
              <a:lnSpc>
                <a:spcPct val="110000"/>
              </a:lnSpc>
              <a:buNone/>
            </a:pPr>
            <a:r>
              <a:rPr lang="en-US" sz="1400" b="1" dirty="0">
                <a:solidFill>
                  <a:srgbClr val="16181D"/>
                </a:solidFill>
              </a:rPr>
              <a:t>of done jobs confirmed</a:t>
            </a:r>
            <a:endParaRPr lang="en-US" sz="1400" dirty="0"/>
          </a:p>
        </p:txBody>
      </p:sp>
      <p:sp>
        <p:nvSpPr>
          <p:cNvPr id="23" name="Text 21"/>
          <p:cNvSpPr txBox="1"/>
          <p:nvPr/>
        </p:nvSpPr>
        <p:spPr>
          <a:xfrm>
            <a:off x="8097317" y="4489704"/>
            <a:ext cx="3454298" cy="36576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By a different resident</a:t>
            </a:r>
            <a:endParaRPr lang="en-US" sz="12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11535" cy="868680"/>
          </a:xfrm>
          <a:prstGeom prst="rect">
            <a:avLst/>
          </a:prstGeom>
          <a:noFill/>
          <a:ln/>
        </p:spPr>
        <p:txBody>
          <a:bodyPr wrap="square" lIns="0" tIns="0" rIns="0" bIns="0" rtlCol="0" anchor="t"/>
          <a:lstStyle/>
          <a:p>
            <a:pPr algn="l" indent="0" marL="0">
              <a:buNone/>
            </a:pPr>
            <a:r>
              <a:rPr lang="en-US" sz="2800" b="1" dirty="0">
                <a:solidFill>
                  <a:srgbClr val="16181D"/>
                </a:solidFill>
              </a:rPr>
              <a:t>What runs today, and what comes next</a:t>
            </a:r>
            <a:endParaRPr lang="en-US" sz="2800" dirty="0"/>
          </a:p>
        </p:txBody>
      </p:sp>
      <p:sp>
        <p:nvSpPr>
          <p:cNvPr id="3" name="Shape 1"/>
          <p:cNvSpPr/>
          <p:nvPr/>
        </p:nvSpPr>
        <p:spPr>
          <a:xfrm>
            <a:off x="640080" y="1600200"/>
            <a:ext cx="6250762" cy="0"/>
          </a:xfrm>
          <a:prstGeom prst="line">
            <a:avLst/>
          </a:prstGeom>
          <a:noFill/>
          <a:ln w="9525">
            <a:solidFill>
              <a:srgbClr val="DADDE1"/>
            </a:solidFill>
            <a:prstDash val="solid"/>
          </a:ln>
        </p:spPr>
      </p:sp>
      <p:sp>
        <p:nvSpPr>
          <p:cNvPr id="4" name="Text 2"/>
          <p:cNvSpPr txBox="1"/>
          <p:nvPr/>
        </p:nvSpPr>
        <p:spPr>
          <a:xfrm>
            <a:off x="640080" y="1755648"/>
            <a:ext cx="1942379" cy="59436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Built and tested</a:t>
            </a:r>
            <a:endParaRPr lang="en-US" sz="1600" dirty="0"/>
          </a:p>
        </p:txBody>
      </p:sp>
      <p:sp>
        <p:nvSpPr>
          <p:cNvPr id="5" name="Text 3"/>
          <p:cNvSpPr txBox="1"/>
          <p:nvPr/>
        </p:nvSpPr>
        <p:spPr>
          <a:xfrm>
            <a:off x="2765339" y="1755648"/>
            <a:ext cx="4125503" cy="59436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Loop, ranking, simulator, capture rules, 76 tests</a:t>
            </a:r>
            <a:endParaRPr lang="en-US" sz="1500" dirty="0"/>
          </a:p>
        </p:txBody>
      </p:sp>
      <p:sp>
        <p:nvSpPr>
          <p:cNvPr id="6" name="Shape 4"/>
          <p:cNvSpPr/>
          <p:nvPr/>
        </p:nvSpPr>
        <p:spPr>
          <a:xfrm>
            <a:off x="640080" y="2468880"/>
            <a:ext cx="6250762" cy="0"/>
          </a:xfrm>
          <a:prstGeom prst="line">
            <a:avLst/>
          </a:prstGeom>
          <a:noFill/>
          <a:ln w="9525">
            <a:solidFill>
              <a:srgbClr val="DADDE1"/>
            </a:solidFill>
            <a:prstDash val="solid"/>
          </a:ln>
        </p:spPr>
      </p:sp>
      <p:sp>
        <p:nvSpPr>
          <p:cNvPr id="7" name="Text 5"/>
          <p:cNvSpPr txBox="1"/>
          <p:nvPr/>
        </p:nvSpPr>
        <p:spPr>
          <a:xfrm>
            <a:off x="640080" y="2624328"/>
            <a:ext cx="1942379" cy="59436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Written, not yet checked</a:t>
            </a:r>
            <a:endParaRPr lang="en-US" sz="1600" dirty="0"/>
          </a:p>
        </p:txBody>
      </p:sp>
      <p:sp>
        <p:nvSpPr>
          <p:cNvPr id="8" name="Text 6"/>
          <p:cNvSpPr txBox="1"/>
          <p:nvPr/>
        </p:nvSpPr>
        <p:spPr>
          <a:xfrm>
            <a:off x="2765339" y="2624328"/>
            <a:ext cx="4125503" cy="59436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Screens for four roles, to try on a phone</a:t>
            </a:r>
            <a:endParaRPr lang="en-US" sz="1500" dirty="0"/>
          </a:p>
        </p:txBody>
      </p:sp>
      <p:sp>
        <p:nvSpPr>
          <p:cNvPr id="9" name="Shape 7"/>
          <p:cNvSpPr/>
          <p:nvPr/>
        </p:nvSpPr>
        <p:spPr>
          <a:xfrm>
            <a:off x="640080" y="3337560"/>
            <a:ext cx="6250762" cy="0"/>
          </a:xfrm>
          <a:prstGeom prst="line">
            <a:avLst/>
          </a:prstGeom>
          <a:noFill/>
          <a:ln w="9525">
            <a:solidFill>
              <a:srgbClr val="DADDE1"/>
            </a:solidFill>
            <a:prstDash val="solid"/>
          </a:ln>
        </p:spPr>
      </p:sp>
      <p:sp>
        <p:nvSpPr>
          <p:cNvPr id="10" name="Text 8"/>
          <p:cNvSpPr txBox="1"/>
          <p:nvPr/>
        </p:nvSpPr>
        <p:spPr>
          <a:xfrm>
            <a:off x="640080" y="3493008"/>
            <a:ext cx="1942379" cy="59436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Next</a:t>
            </a:r>
            <a:endParaRPr lang="en-US" sz="1600" dirty="0"/>
          </a:p>
        </p:txBody>
      </p:sp>
      <p:sp>
        <p:nvSpPr>
          <p:cNvPr id="11" name="Text 9"/>
          <p:cNvSpPr txBox="1"/>
          <p:nvPr/>
        </p:nvSpPr>
        <p:spPr>
          <a:xfrm>
            <a:off x="2765339" y="3493008"/>
            <a:ext cx="4125503" cy="59436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Real drain and owner data for one ward, then a live run on AWS</a:t>
            </a:r>
            <a:endParaRPr lang="en-US" sz="1500" dirty="0"/>
          </a:p>
        </p:txBody>
      </p:sp>
      <p:sp>
        <p:nvSpPr>
          <p:cNvPr id="12" name="Shape 10"/>
          <p:cNvSpPr/>
          <p:nvPr/>
        </p:nvSpPr>
        <p:spPr>
          <a:xfrm>
            <a:off x="640080" y="4206240"/>
            <a:ext cx="6250762" cy="0"/>
          </a:xfrm>
          <a:prstGeom prst="line">
            <a:avLst/>
          </a:prstGeom>
          <a:noFill/>
          <a:ln w="9525">
            <a:solidFill>
              <a:srgbClr val="DADDE1"/>
            </a:solidFill>
            <a:prstDash val="solid"/>
          </a:ln>
        </p:spPr>
      </p:sp>
      <p:sp>
        <p:nvSpPr>
          <p:cNvPr id="13" name="Text 11"/>
          <p:cNvSpPr txBox="1"/>
          <p:nvPr/>
        </p:nvSpPr>
        <p:spPr>
          <a:xfrm>
            <a:off x="640080" y="4361688"/>
            <a:ext cx="1942379" cy="594360"/>
          </a:xfrm>
          <a:prstGeom prst="rect">
            <a:avLst/>
          </a:prstGeom>
          <a:noFill/>
          <a:ln/>
        </p:spPr>
        <p:txBody>
          <a:bodyPr wrap="square" lIns="0" tIns="0" rIns="0" bIns="0" rtlCol="0" anchor="t"/>
          <a:lstStyle/>
          <a:p>
            <a:pPr algn="l" indent="0" marL="0">
              <a:lnSpc>
                <a:spcPct val="105000"/>
              </a:lnSpc>
              <a:buNone/>
            </a:pPr>
            <a:r>
              <a:rPr lang="en-US" sz="1600" b="1" dirty="0">
                <a:solidFill>
                  <a:srgbClr val="16181D"/>
                </a:solidFill>
              </a:rPr>
              <a:t>Not claimed</a:t>
            </a:r>
            <a:endParaRPr lang="en-US" sz="1600" dirty="0"/>
          </a:p>
        </p:txBody>
      </p:sp>
      <p:sp>
        <p:nvSpPr>
          <p:cNvPr id="14" name="Text 12"/>
          <p:cNvSpPr txBox="1"/>
          <p:nvPr/>
        </p:nvSpPr>
        <p:spPr>
          <a:xfrm>
            <a:off x="2765339" y="4361688"/>
            <a:ext cx="4125503" cy="594360"/>
          </a:xfrm>
          <a:prstGeom prst="rect">
            <a:avLst/>
          </a:prstGeom>
          <a:noFill/>
          <a:ln/>
        </p:spPr>
        <p:txBody>
          <a:bodyPr wrap="square" lIns="0" tIns="0" rIns="0" bIns="0" rtlCol="0" anchor="t"/>
          <a:lstStyle/>
          <a:p>
            <a:pPr algn="l" indent="0" marL="0">
              <a:lnSpc>
                <a:spcPct val="112000"/>
              </a:lnSpc>
              <a:buNone/>
            </a:pPr>
            <a:r>
              <a:rPr lang="en-US" sz="1500" dirty="0">
                <a:solidFill>
                  <a:srgbClr val="16181D"/>
                </a:solidFill>
              </a:rPr>
              <a:t>Floods prevented, lives saved, water-table rise</a:t>
            </a:r>
            <a:endParaRPr lang="en-US" sz="1500" dirty="0"/>
          </a:p>
        </p:txBody>
      </p:sp>
      <p:sp>
        <p:nvSpPr>
          <p:cNvPr id="15" name="Shape 13"/>
          <p:cNvSpPr/>
          <p:nvPr/>
        </p:nvSpPr>
        <p:spPr>
          <a:xfrm>
            <a:off x="640080" y="5074920"/>
            <a:ext cx="6250762" cy="0"/>
          </a:xfrm>
          <a:prstGeom prst="line">
            <a:avLst/>
          </a:prstGeom>
          <a:noFill/>
          <a:ln w="9525">
            <a:solidFill>
              <a:srgbClr val="DADDE1"/>
            </a:solidFill>
            <a:prstDash val="solid"/>
          </a:ln>
        </p:spPr>
      </p:sp>
      <p:sp>
        <p:nvSpPr>
          <p:cNvPr id="16" name="Text 14"/>
          <p:cNvSpPr txBox="1"/>
          <p:nvPr/>
        </p:nvSpPr>
        <p:spPr>
          <a:xfrm>
            <a:off x="8097317" y="1600200"/>
            <a:ext cx="3454298" cy="274320"/>
          </a:xfrm>
          <a:prstGeom prst="rect">
            <a:avLst/>
          </a:prstGeom>
          <a:noFill/>
          <a:ln/>
        </p:spPr>
        <p:txBody>
          <a:bodyPr wrap="square" lIns="0" tIns="0" rIns="0" bIns="0" rtlCol="0" anchor="t"/>
          <a:lstStyle/>
          <a:p>
            <a:pPr algn="l" indent="0" marL="0">
              <a:lnSpc>
                <a:spcPct val="110000"/>
              </a:lnSpc>
              <a:buNone/>
            </a:pPr>
            <a:r>
              <a:rPr lang="en-US" sz="1200" dirty="0">
                <a:solidFill>
                  <a:srgbClr val="5D636E"/>
                </a:solidFill>
              </a:rPr>
              <a:t>References</a:t>
            </a:r>
            <a:endParaRPr lang="en-US" sz="1200" dirty="0"/>
          </a:p>
        </p:txBody>
      </p:sp>
      <p:sp>
        <p:nvSpPr>
          <p:cNvPr id="17" name="Text 15"/>
          <p:cNvSpPr txBox="1"/>
          <p:nvPr/>
        </p:nvSpPr>
        <p:spPr>
          <a:xfrm>
            <a:off x="8097317" y="1965960"/>
            <a:ext cx="3454298" cy="4114800"/>
          </a:xfrm>
          <a:prstGeom prst="rect">
            <a:avLst/>
          </a:prstGeom>
          <a:noFill/>
          <a:ln/>
        </p:spPr>
        <p:txBody>
          <a:bodyPr wrap="square" lIns="0" tIns="0" rIns="0" bIns="0" rtlCol="0" anchor="t"/>
          <a:lstStyle/>
          <a:p>
            <a:pPr algn="l" indent="0" marL="0">
              <a:lnSpc>
                <a:spcPct val="110000"/>
              </a:lnSpc>
              <a:spcAft>
                <a:spcPts val="800"/>
              </a:spcAft>
              <a:buNone/>
            </a:pPr>
            <a:r>
              <a:rPr lang="en-US" sz="1200" dirty="0">
                <a:solidFill>
                  <a:srgbClr val="16181D"/>
                </a:solidFill>
              </a:rPr>
              <a:t>The Week / PTI, 9 Aug 2024: magistrate's report on the basement deaths</a:t>
            </a:r>
            <a:endParaRPr lang="en-US" sz="1200" dirty="0"/>
          </a:p>
          <a:p>
            <a:pPr algn="l" indent="0" marL="0">
              <a:lnSpc>
                <a:spcPct val="110000"/>
              </a:lnSpc>
              <a:spcAft>
                <a:spcPts val="800"/>
              </a:spcAft>
              <a:buNone/>
            </a:pPr>
            <a:r>
              <a:rPr lang="en-US" sz="1200" dirty="0">
                <a:solidFill>
                  <a:srgbClr val="16181D"/>
                </a:solidFill>
              </a:rPr>
              <a:t>PTI via Deccan Herald, Aug 2024: rain deaths, electrocution and drowning</a:t>
            </a:r>
            <a:endParaRPr lang="en-US" sz="1200" dirty="0"/>
          </a:p>
          <a:p>
            <a:pPr algn="l" indent="0" marL="0">
              <a:lnSpc>
                <a:spcPct val="110000"/>
              </a:lnSpc>
              <a:spcAft>
                <a:spcPts val="800"/>
              </a:spcAft>
              <a:buNone/>
            </a:pPr>
            <a:r>
              <a:rPr lang="en-US" sz="1200" dirty="0">
                <a:solidFill>
                  <a:srgbClr val="16181D"/>
                </a:solidFill>
              </a:rPr>
              <a:t>NGT OA 230/2025: MCD desilting, CPCB reply</a:t>
            </a:r>
            <a:endParaRPr lang="en-US" sz="1200" dirty="0"/>
          </a:p>
          <a:p>
            <a:pPr algn="l" indent="0" marL="0">
              <a:lnSpc>
                <a:spcPct val="110000"/>
              </a:lnSpc>
              <a:spcAft>
                <a:spcPts val="800"/>
              </a:spcAft>
              <a:buNone/>
            </a:pPr>
            <a:r>
              <a:rPr lang="en-US" sz="1200" dirty="0">
                <a:solidFill>
                  <a:srgbClr val="16181D"/>
                </a:solidFill>
              </a:rPr>
              <a:t>NGT OA 06/2012, EA 05/2024: drain lengths by agency</a:t>
            </a:r>
            <a:endParaRPr lang="en-US" sz="1200" dirty="0"/>
          </a:p>
          <a:p>
            <a:pPr algn="l" indent="0" marL="0">
              <a:lnSpc>
                <a:spcPct val="110000"/>
              </a:lnSpc>
              <a:spcAft>
                <a:spcPts val="800"/>
              </a:spcAft>
              <a:buNone/>
            </a:pPr>
            <a:r>
              <a:rPr lang="en-US" sz="1200" dirty="0">
                <a:solidFill>
                  <a:srgbClr val="16181D"/>
                </a:solidFill>
              </a:rPr>
              <a:t>Delhi High Court order, 2026: unclear drain ownership</a:t>
            </a:r>
            <a:endParaRPr lang="en-US" sz="1200" dirty="0"/>
          </a:p>
          <a:p>
            <a:pPr algn="l" indent="0" marL="0">
              <a:lnSpc>
                <a:spcPct val="110000"/>
              </a:lnSpc>
              <a:spcAft>
                <a:spcPts val="800"/>
              </a:spcAft>
              <a:buNone/>
            </a:pPr>
            <a:r>
              <a:rPr lang="en-US" sz="1200" dirty="0">
                <a:solidFill>
                  <a:srgbClr val="16181D"/>
                </a:solidFill>
              </a:rPr>
              <a:t>CGWB 2014 study; CAG Report 9 of 2021: groundwater</a:t>
            </a:r>
            <a:endParaRPr lang="en-US" sz="1200" dirty="0"/>
          </a:p>
          <a:p>
            <a:pPr algn="l" indent="0" marL="0">
              <a:lnSpc>
                <a:spcPct val="110000"/>
              </a:lnSpc>
              <a:spcAft>
                <a:spcPts val="800"/>
              </a:spcAft>
              <a:buNone/>
            </a:pPr>
            <a:r>
              <a:rPr lang="en-US" sz="1200" dirty="0">
                <a:solidFill>
                  <a:srgbClr val="16181D"/>
                </a:solidFill>
              </a:rPr>
              <a:t>Business Standard, 2024: waterlogging survey</a:t>
            </a:r>
            <a:endParaRPr lang="en-US" sz="1200" dirty="0"/>
          </a:p>
        </p:txBody>
      </p:sp>
      <p:sp>
        <p:nvSpPr>
          <p:cNvPr id="25" name="Slide Number Placeholder 0"/>
          <p:cNvSpPr>
            <a:spLocks noGrp="1"/>
          </p:cNvSpPr>
          <p:nvPr>
            <p:ph type="sldNum" sz="quarter" idx="4294967295"/>
          </p:nvPr>
        </p:nvSpPr>
        <p:spPr>
          <a:xfrm>
            <a:off x="11002975" y="64008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36E"/>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Rain-Ready</dc:title>
  <dc:subject>PptxGenJS Presentation</dc:subject>
  <dc:creator>Ujjwal</dc:creator>
  <cp:lastModifiedBy>Ujjwal</cp:lastModifiedBy>
  <cp:revision>1</cp:revision>
  <dcterms:created xsi:type="dcterms:W3CDTF">2026-10-10T04:24:27Z</dcterms:created>
  <dcterms:modified xsi:type="dcterms:W3CDTF">2026-10-10T04:24:27Z</dcterms:modified>
</cp:coreProperties>
</file>